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rthaveni R" userId="4873cc4d031f5352" providerId="LiveId" clId="{47F94650-E898-45DD-95C1-56C406433C14}"/>
    <pc:docChg chg="custSel modSld sldOrd modMainMaster">
      <pc:chgData name="Keerthaveni R" userId="4873cc4d031f5352" providerId="LiveId" clId="{47F94650-E898-45DD-95C1-56C406433C14}" dt="2026-07-19T22:45:44.659" v="16" actId="478"/>
      <pc:docMkLst>
        <pc:docMk/>
      </pc:docMkLst>
      <pc:sldChg chg="modTransition">
        <pc:chgData name="Keerthaveni R" userId="4873cc4d031f5352" providerId="LiveId" clId="{47F94650-E898-45DD-95C1-56C406433C14}" dt="2026-07-01T01:26:35.411" v="6"/>
        <pc:sldMkLst>
          <pc:docMk/>
          <pc:sldMk cId="0" sldId="256"/>
        </pc:sldMkLst>
      </pc:sldChg>
      <pc:sldChg chg="modTransition">
        <pc:chgData name="Keerthaveni R" userId="4873cc4d031f5352" providerId="LiveId" clId="{47F94650-E898-45DD-95C1-56C406433C14}" dt="2026-07-01T01:26:35.411" v="6"/>
        <pc:sldMkLst>
          <pc:docMk/>
          <pc:sldMk cId="0" sldId="257"/>
        </pc:sldMkLst>
      </pc:sldChg>
      <pc:sldChg chg="modTransition">
        <pc:chgData name="Keerthaveni R" userId="4873cc4d031f5352" providerId="LiveId" clId="{47F94650-E898-45DD-95C1-56C406433C14}" dt="2026-07-01T01:26:35.411" v="6"/>
        <pc:sldMkLst>
          <pc:docMk/>
          <pc:sldMk cId="0" sldId="258"/>
        </pc:sldMkLst>
      </pc:sldChg>
      <pc:sldChg chg="modTransition">
        <pc:chgData name="Keerthaveni R" userId="4873cc4d031f5352" providerId="LiveId" clId="{47F94650-E898-45DD-95C1-56C406433C14}" dt="2026-07-01T01:26:35.411" v="6"/>
        <pc:sldMkLst>
          <pc:docMk/>
          <pc:sldMk cId="0" sldId="259"/>
        </pc:sldMkLst>
      </pc:sldChg>
      <pc:sldChg chg="modTransition">
        <pc:chgData name="Keerthaveni R" userId="4873cc4d031f5352" providerId="LiveId" clId="{47F94650-E898-45DD-95C1-56C406433C14}" dt="2026-07-01T01:26:35.411" v="6"/>
        <pc:sldMkLst>
          <pc:docMk/>
          <pc:sldMk cId="0" sldId="260"/>
        </pc:sldMkLst>
      </pc:sldChg>
      <pc:sldChg chg="modTransition">
        <pc:chgData name="Keerthaveni R" userId="4873cc4d031f5352" providerId="LiveId" clId="{47F94650-E898-45DD-95C1-56C406433C14}" dt="2026-07-01T01:26:35.411" v="6"/>
        <pc:sldMkLst>
          <pc:docMk/>
          <pc:sldMk cId="0" sldId="261"/>
        </pc:sldMkLst>
      </pc:sldChg>
      <pc:sldChg chg="modTransition">
        <pc:chgData name="Keerthaveni R" userId="4873cc4d031f5352" providerId="LiveId" clId="{47F94650-E898-45DD-95C1-56C406433C14}" dt="2026-07-01T01:26:35.411" v="6"/>
        <pc:sldMkLst>
          <pc:docMk/>
          <pc:sldMk cId="0" sldId="262"/>
        </pc:sldMkLst>
      </pc:sldChg>
      <pc:sldChg chg="modTransition">
        <pc:chgData name="Keerthaveni R" userId="4873cc4d031f5352" providerId="LiveId" clId="{47F94650-E898-45DD-95C1-56C406433C14}" dt="2026-07-01T01:26:35.411" v="6"/>
        <pc:sldMkLst>
          <pc:docMk/>
          <pc:sldMk cId="0" sldId="263"/>
        </pc:sldMkLst>
      </pc:sldChg>
      <pc:sldChg chg="modTransition">
        <pc:chgData name="Keerthaveni R" userId="4873cc4d031f5352" providerId="LiveId" clId="{47F94650-E898-45DD-95C1-56C406433C14}" dt="2026-07-01T01:26:35.411" v="6"/>
        <pc:sldMkLst>
          <pc:docMk/>
          <pc:sldMk cId="0" sldId="264"/>
        </pc:sldMkLst>
      </pc:sldChg>
      <pc:sldChg chg="modTransition">
        <pc:chgData name="Keerthaveni R" userId="4873cc4d031f5352" providerId="LiveId" clId="{47F94650-E898-45DD-95C1-56C406433C14}" dt="2026-07-01T01:26:35.411" v="6"/>
        <pc:sldMkLst>
          <pc:docMk/>
          <pc:sldMk cId="0" sldId="265"/>
        </pc:sldMkLst>
      </pc:sldChg>
      <pc:sldChg chg="modTransition">
        <pc:chgData name="Keerthaveni R" userId="4873cc4d031f5352" providerId="LiveId" clId="{47F94650-E898-45DD-95C1-56C406433C14}" dt="2026-07-01T01:26:35.411" v="6"/>
        <pc:sldMkLst>
          <pc:docMk/>
          <pc:sldMk cId="0" sldId="266"/>
        </pc:sldMkLst>
      </pc:sldChg>
      <pc:sldChg chg="modTransition">
        <pc:chgData name="Keerthaveni R" userId="4873cc4d031f5352" providerId="LiveId" clId="{47F94650-E898-45DD-95C1-56C406433C14}" dt="2026-07-01T01:26:35.411" v="6"/>
        <pc:sldMkLst>
          <pc:docMk/>
          <pc:sldMk cId="0" sldId="267"/>
        </pc:sldMkLst>
      </pc:sldChg>
      <pc:sldChg chg="modTransition">
        <pc:chgData name="Keerthaveni R" userId="4873cc4d031f5352" providerId="LiveId" clId="{47F94650-E898-45DD-95C1-56C406433C14}" dt="2026-07-01T01:26:35.411" v="6"/>
        <pc:sldMkLst>
          <pc:docMk/>
          <pc:sldMk cId="0" sldId="268"/>
        </pc:sldMkLst>
      </pc:sldChg>
      <pc:sldChg chg="modTransition">
        <pc:chgData name="Keerthaveni R" userId="4873cc4d031f5352" providerId="LiveId" clId="{47F94650-E898-45DD-95C1-56C406433C14}" dt="2026-07-01T01:26:35.411" v="6"/>
        <pc:sldMkLst>
          <pc:docMk/>
          <pc:sldMk cId="0" sldId="269"/>
        </pc:sldMkLst>
      </pc:sldChg>
      <pc:sldChg chg="modTransition">
        <pc:chgData name="Keerthaveni R" userId="4873cc4d031f5352" providerId="LiveId" clId="{47F94650-E898-45DD-95C1-56C406433C14}" dt="2026-07-01T01:26:35.411" v="6"/>
        <pc:sldMkLst>
          <pc:docMk/>
          <pc:sldMk cId="0" sldId="270"/>
        </pc:sldMkLst>
      </pc:sldChg>
      <pc:sldChg chg="modTransition">
        <pc:chgData name="Keerthaveni R" userId="4873cc4d031f5352" providerId="LiveId" clId="{47F94650-E898-45DD-95C1-56C406433C14}" dt="2026-07-01T01:26:35.411" v="6"/>
        <pc:sldMkLst>
          <pc:docMk/>
          <pc:sldMk cId="0" sldId="272"/>
        </pc:sldMkLst>
      </pc:sldChg>
      <pc:sldChg chg="modTransition">
        <pc:chgData name="Keerthaveni R" userId="4873cc4d031f5352" providerId="LiveId" clId="{47F94650-E898-45DD-95C1-56C406433C14}" dt="2026-07-01T01:26:35.411" v="6"/>
        <pc:sldMkLst>
          <pc:docMk/>
          <pc:sldMk cId="0" sldId="273"/>
        </pc:sldMkLst>
      </pc:sldChg>
      <pc:sldChg chg="modTransition">
        <pc:chgData name="Keerthaveni R" userId="4873cc4d031f5352" providerId="LiveId" clId="{47F94650-E898-45DD-95C1-56C406433C14}" dt="2026-07-01T01:26:35.411" v="6"/>
        <pc:sldMkLst>
          <pc:docMk/>
          <pc:sldMk cId="0" sldId="274"/>
        </pc:sldMkLst>
      </pc:sldChg>
      <pc:sldChg chg="addSp delSp modSp mod ord modTransition">
        <pc:chgData name="Keerthaveni R" userId="4873cc4d031f5352" providerId="LiveId" clId="{47F94650-E898-45DD-95C1-56C406433C14}" dt="2026-07-19T22:45:44.659" v="16" actId="478"/>
        <pc:sldMkLst>
          <pc:docMk/>
          <pc:sldMk cId="0" sldId="275"/>
        </pc:sldMkLst>
        <pc:graphicFrameChg chg="add del modGraphic">
          <ac:chgData name="Keerthaveni R" userId="4873cc4d031f5352" providerId="LiveId" clId="{47F94650-E898-45DD-95C1-56C406433C14}" dt="2026-07-19T22:45:44.659" v="16" actId="478"/>
          <ac:graphicFrameMkLst>
            <pc:docMk/>
            <pc:sldMk cId="0" sldId="275"/>
            <ac:graphicFrameMk id="3" creationId="{7E26B9BE-FD65-2898-5FC2-2703D098D424}"/>
          </ac:graphicFrameMkLst>
        </pc:graphicFrameChg>
        <pc:graphicFrameChg chg="add del modGraphic">
          <ac:chgData name="Keerthaveni R" userId="4873cc4d031f5352" providerId="LiveId" clId="{47F94650-E898-45DD-95C1-56C406433C14}" dt="2026-07-19T22:45:42.392" v="15" actId="478"/>
          <ac:graphicFrameMkLst>
            <pc:docMk/>
            <pc:sldMk cId="0" sldId="275"/>
            <ac:graphicFrameMk id="7" creationId="{9F4A1D62-5494-7F8E-DD18-493650987D9C}"/>
          </ac:graphicFrameMkLst>
        </pc:graphicFrameChg>
      </pc:sldChg>
      <pc:sldMasterChg chg="modTransition modSldLayout">
        <pc:chgData name="Keerthaveni R" userId="4873cc4d031f5352" providerId="LiveId" clId="{47F94650-E898-45DD-95C1-56C406433C14}" dt="2026-07-01T01:26:35.411" v="6"/>
        <pc:sldMasterMkLst>
          <pc:docMk/>
          <pc:sldMasterMk cId="0" sldId="2147483648"/>
        </pc:sldMasterMkLst>
        <pc:sldLayoutChg chg="modTransition">
          <pc:chgData name="Keerthaveni R" userId="4873cc4d031f5352" providerId="LiveId" clId="{47F94650-E898-45DD-95C1-56C406433C14}" dt="2026-07-01T01:26:35.411" v="6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6468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3258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 BEHAVIOR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POWER BI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59" y="3154680"/>
            <a:ext cx="2369203" cy="45719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03520" y="0"/>
            <a:ext cx="685800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162240">
              <a:alpha val="80000"/>
            </a:srgbClr>
          </a:solidFill>
          <a:ln w="12700">
            <a:solidFill>
              <a:srgbClr val="1622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365760"/>
            <a:ext cx="2743200" cy="1554480"/>
          </a:xfrm>
          <a:prstGeom prst="roundRect">
            <a:avLst>
              <a:gd name="adj" fmla="val 8824"/>
            </a:avLst>
          </a:prstGeom>
          <a:solidFill>
            <a:srgbClr val="1A2B5F">
              <a:alpha val="8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577840" y="365760"/>
            <a:ext cx="27432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5577840" y="548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₹251.51M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57784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0" y="365760"/>
            <a:ext cx="2743200" cy="1554480"/>
          </a:xfrm>
          <a:prstGeom prst="roundRect">
            <a:avLst>
              <a:gd name="adj" fmla="val 8824"/>
            </a:avLst>
          </a:prstGeom>
          <a:solidFill>
            <a:srgbClr val="1A2B5F">
              <a:alpha val="8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86800" y="365760"/>
            <a:ext cx="2743200" cy="914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0" y="548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99K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68680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577840" y="2286000"/>
            <a:ext cx="2743200" cy="1554480"/>
          </a:xfrm>
          <a:prstGeom prst="roundRect">
            <a:avLst>
              <a:gd name="adj" fmla="val 8824"/>
            </a:avLst>
          </a:prstGeom>
          <a:solidFill>
            <a:srgbClr val="1A2B5F">
              <a:alpha val="8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77840" y="2286000"/>
            <a:ext cx="2743200" cy="9144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23" name="Text 21"/>
          <p:cNvSpPr/>
          <p:nvPr/>
        </p:nvSpPr>
        <p:spPr>
          <a:xfrm>
            <a:off x="5577840" y="24688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₹2.53K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577840" y="3291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686800" y="2286000"/>
            <a:ext cx="2743200" cy="1554480"/>
          </a:xfrm>
          <a:prstGeom prst="roundRect">
            <a:avLst>
              <a:gd name="adj" fmla="val 8824"/>
            </a:avLst>
          </a:prstGeom>
          <a:solidFill>
            <a:srgbClr val="1A2B5F">
              <a:alpha val="8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0" y="2286000"/>
            <a:ext cx="2743200" cy="914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0" y="24688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299K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8686800" y="3291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577840" y="4206240"/>
            <a:ext cx="6217920" cy="2286000"/>
          </a:xfrm>
          <a:prstGeom prst="roundRect">
            <a:avLst>
              <a:gd name="adj" fmla="val 4800"/>
            </a:avLst>
          </a:prstGeom>
          <a:solidFill>
            <a:srgbClr val="1A2B5F">
              <a:alpha val="7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0" y="4297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Age Group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806440" y="5257800"/>
            <a:ext cx="777240" cy="731520"/>
          </a:xfrm>
          <a:prstGeom prst="roundRect">
            <a:avLst>
              <a:gd name="adj" fmla="val 6250"/>
            </a:avLst>
          </a:prstGeom>
          <a:solidFill>
            <a:srgbClr val="4A90D9"/>
          </a:solidFill>
          <a:ln/>
        </p:spPr>
      </p:sp>
      <p:sp>
        <p:nvSpPr>
          <p:cNvPr id="32" name="Text 30"/>
          <p:cNvSpPr/>
          <p:nvPr/>
        </p:nvSpPr>
        <p:spPr>
          <a:xfrm>
            <a:off x="5806440" y="6035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18-25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03720" y="5029200"/>
            <a:ext cx="777240" cy="960120"/>
          </a:xfrm>
          <a:prstGeom prst="roundRect">
            <a:avLst>
              <a:gd name="adj" fmla="val 5882"/>
            </a:avLst>
          </a:prstGeom>
          <a:solidFill>
            <a:srgbClr val="4A90D9"/>
          </a:solidFill>
          <a:ln/>
        </p:spPr>
      </p:sp>
      <p:sp>
        <p:nvSpPr>
          <p:cNvPr id="34" name="Text 32"/>
          <p:cNvSpPr/>
          <p:nvPr/>
        </p:nvSpPr>
        <p:spPr>
          <a:xfrm>
            <a:off x="6903720" y="6035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26-35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001000" y="4846320"/>
            <a:ext cx="777240" cy="1143000"/>
          </a:xfrm>
          <a:prstGeom prst="roundRect">
            <a:avLst>
              <a:gd name="adj" fmla="val 5882"/>
            </a:avLst>
          </a:prstGeom>
          <a:solidFill>
            <a:srgbClr val="4A90D9"/>
          </a:solidFill>
          <a:ln/>
        </p:spPr>
      </p:sp>
      <p:sp>
        <p:nvSpPr>
          <p:cNvPr id="36" name="Text 34"/>
          <p:cNvSpPr/>
          <p:nvPr/>
        </p:nvSpPr>
        <p:spPr>
          <a:xfrm>
            <a:off x="8001000" y="6035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36-45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098280" y="4837176"/>
            <a:ext cx="777240" cy="1152144"/>
          </a:xfrm>
          <a:prstGeom prst="roundRect">
            <a:avLst>
              <a:gd name="adj" fmla="val 5882"/>
            </a:avLst>
          </a:prstGeom>
          <a:solidFill>
            <a:srgbClr val="2E4A8F"/>
          </a:solidFill>
          <a:ln/>
        </p:spPr>
      </p:sp>
      <p:sp>
        <p:nvSpPr>
          <p:cNvPr id="38" name="Text 36"/>
          <p:cNvSpPr/>
          <p:nvPr/>
        </p:nvSpPr>
        <p:spPr>
          <a:xfrm>
            <a:off x="9098280" y="6035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46-55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195560" y="4572000"/>
            <a:ext cx="777240" cy="1417320"/>
          </a:xfrm>
          <a:prstGeom prst="roundRect">
            <a:avLst>
              <a:gd name="adj" fmla="val 5882"/>
            </a:avLst>
          </a:prstGeom>
          <a:solidFill>
            <a:srgbClr val="F5A623"/>
          </a:solidFill>
          <a:ln/>
        </p:spPr>
      </p:sp>
      <p:sp>
        <p:nvSpPr>
          <p:cNvPr id="40" name="Text 38"/>
          <p:cNvSpPr/>
          <p:nvPr/>
        </p:nvSpPr>
        <p:spPr>
          <a:xfrm>
            <a:off x="10195560" y="6035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56+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303520" cy="50292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5303520" cy="502920"/>
          </a:xfrm>
          <a:prstGeom prst="rect">
            <a:avLst/>
          </a:prstGeom>
          <a:solidFill>
            <a:srgbClr val="2E4A8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shopping behavior based on: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1546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069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5577840" cy="50292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097280"/>
            <a:ext cx="5577840" cy="5029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09728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USED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82880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1874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2286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&amp; Dashboard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92240" y="320040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246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Query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83680" y="3657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 &amp; Cleaning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92240" y="457200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46177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DAX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83680" y="5029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Expressions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2800" dirty="0"/>
          </a:p>
        </p:txBody>
      </p:sp>
      <p:pic>
        <p:nvPicPr>
          <p:cNvPr id="4" name="Image 0" descr="/home/claude/powerbi_d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6858000" cy="502920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7498080" y="1097280"/>
            <a:ext cx="4297680" cy="502920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0" y="1097280"/>
            <a:ext cx="4297680" cy="502920"/>
          </a:xfrm>
          <a:prstGeom prst="rect">
            <a:avLst/>
          </a:prstGeom>
          <a:solidFill>
            <a:srgbClr val="2E4A8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0" y="10972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DETAILS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680960" y="1737360"/>
            <a:ext cx="3931920" cy="566928"/>
          </a:xfrm>
          <a:prstGeom prst="roundRect">
            <a:avLst>
              <a:gd name="adj" fmla="val 9677"/>
            </a:avLst>
          </a:prstGeom>
          <a:solidFill>
            <a:srgbClr val="F4F6FB"/>
          </a:solidFill>
          <a:ln/>
        </p:spPr>
      </p:sp>
      <p:sp>
        <p:nvSpPr>
          <p:cNvPr id="9" name="Text 6"/>
          <p:cNvSpPr/>
          <p:nvPr/>
        </p:nvSpPr>
        <p:spPr>
          <a:xfrm>
            <a:off x="7818120" y="17739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18120" y="2011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99,457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680960" y="2423160"/>
            <a:ext cx="3931920" cy="566928"/>
          </a:xfrm>
          <a:prstGeom prst="roundRect">
            <a:avLst>
              <a:gd name="adj" fmla="val 9677"/>
            </a:avLst>
          </a:prstGeom>
          <a:solidFill>
            <a:srgbClr val="F4F6FB"/>
          </a:solidFill>
          <a:ln/>
        </p:spPr>
      </p:sp>
      <p:sp>
        <p:nvSpPr>
          <p:cNvPr id="12" name="Text 9"/>
          <p:cNvSpPr/>
          <p:nvPr/>
        </p:nvSpPr>
        <p:spPr>
          <a:xfrm>
            <a:off x="7818120" y="24597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818120" y="26974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Age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680960" y="3108960"/>
            <a:ext cx="3931920" cy="566928"/>
          </a:xfrm>
          <a:prstGeom prst="roundRect">
            <a:avLst>
              <a:gd name="adj" fmla="val 9677"/>
            </a:avLst>
          </a:prstGeom>
          <a:solidFill>
            <a:srgbClr val="F4F6FB"/>
          </a:solidFill>
          <a:ln/>
        </p:spPr>
      </p:sp>
      <p:sp>
        <p:nvSpPr>
          <p:cNvPr id="15" name="Text 12"/>
          <p:cNvSpPr/>
          <p:nvPr/>
        </p:nvSpPr>
        <p:spPr>
          <a:xfrm>
            <a:off x="7818120" y="31455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818120" y="33832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Categories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680959" y="3776472"/>
            <a:ext cx="3931919" cy="566928"/>
          </a:xfrm>
          <a:prstGeom prst="roundRect">
            <a:avLst>
              <a:gd name="adj" fmla="val 9677"/>
            </a:avLst>
          </a:prstGeom>
          <a:solidFill>
            <a:srgbClr val="F4F6FB"/>
          </a:solidFill>
          <a:ln/>
        </p:spPr>
      </p:sp>
      <p:sp>
        <p:nvSpPr>
          <p:cNvPr id="18" name="Text 15"/>
          <p:cNvSpPr/>
          <p:nvPr/>
        </p:nvSpPr>
        <p:spPr>
          <a:xfrm>
            <a:off x="7818120" y="38313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818120" y="40690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100" dirty="0">
                <a:solidFill>
                  <a:srgbClr val="002060"/>
                </a:solidFill>
              </a:rPr>
              <a:t>Customer Purchase Records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20" name="Shape 17"/>
          <p:cNvSpPr/>
          <p:nvPr/>
        </p:nvSpPr>
        <p:spPr>
          <a:xfrm>
            <a:off x="7680960" y="4480560"/>
            <a:ext cx="3931920" cy="566928"/>
          </a:xfrm>
          <a:prstGeom prst="roundRect">
            <a:avLst>
              <a:gd name="adj" fmla="val 9677"/>
            </a:avLst>
          </a:prstGeom>
          <a:solidFill>
            <a:srgbClr val="F4F6FB"/>
          </a:solidFill>
          <a:ln/>
        </p:spPr>
      </p:sp>
      <p:sp>
        <p:nvSpPr>
          <p:cNvPr id="21" name="Text 18"/>
          <p:cNvSpPr/>
          <p:nvPr/>
        </p:nvSpPr>
        <p:spPr>
          <a:xfrm>
            <a:off x="7818120" y="45171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818120" y="4754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Methods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680960" y="5166360"/>
            <a:ext cx="3931920" cy="566928"/>
          </a:xfrm>
          <a:prstGeom prst="roundRect">
            <a:avLst>
              <a:gd name="adj" fmla="val 9677"/>
            </a:avLst>
          </a:prstGeom>
          <a:solidFill>
            <a:srgbClr val="F4F6FB"/>
          </a:solidFill>
          <a:ln/>
        </p:spPr>
      </p:sp>
      <p:sp>
        <p:nvSpPr>
          <p:cNvPr id="24" name="Text 21"/>
          <p:cNvSpPr/>
          <p:nvPr/>
        </p:nvSpPr>
        <p:spPr>
          <a:xfrm>
            <a:off x="7818120" y="52029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Malls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818120" y="5440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Locations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 &amp; KPI MEASURES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0" y="2057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7" name="Text 1">
            <a:extLst>
              <a:ext uri="{FF2B5EF4-FFF2-40B4-BE49-F238E27FC236}">
                <a16:creationId xmlns:a16="http://schemas.microsoft.com/office/drawing/2014/main" id="{3FBF7398-98F7-CB2C-124E-4F5F222C9ECE}"/>
              </a:ext>
            </a:extLst>
          </p:cNvPr>
          <p:cNvSpPr/>
          <p:nvPr/>
        </p:nvSpPr>
        <p:spPr>
          <a:xfrm>
            <a:off x="274320" y="164592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75" name="Text 5">
            <a:extLst>
              <a:ext uri="{FF2B5EF4-FFF2-40B4-BE49-F238E27FC236}">
                <a16:creationId xmlns:a16="http://schemas.microsoft.com/office/drawing/2014/main" id="{36273025-78C2-A74A-CF61-F6B90FDC506D}"/>
              </a:ext>
            </a:extLst>
          </p:cNvPr>
          <p:cNvSpPr/>
          <p:nvPr/>
        </p:nvSpPr>
        <p:spPr>
          <a:xfrm>
            <a:off x="274320" y="1152144"/>
            <a:ext cx="11612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ea typeface="Calibri" pitchFamily="34" charset="-122"/>
                <a:cs typeface="Calibri" pitchFamily="34" charset="-120"/>
              </a:rPr>
              <a:t>The dataset was imported into Power BI and prepared for analysis. Data cleaning, transformations, and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444444"/>
                </a:solidFill>
                <a:ea typeface="Calibri" pitchFamily="34" charset="-122"/>
                <a:cs typeface="Calibri" pitchFamily="34" charset="-120"/>
              </a:rPr>
              <a:t>DAX measures were created to generate meaningful insights.</a:t>
            </a:r>
            <a:endParaRPr lang="en-US" sz="1100" dirty="0"/>
          </a:p>
        </p:txBody>
      </p:sp>
      <p:sp>
        <p:nvSpPr>
          <p:cNvPr id="277" name="Shape 6">
            <a:extLst>
              <a:ext uri="{FF2B5EF4-FFF2-40B4-BE49-F238E27FC236}">
                <a16:creationId xmlns:a16="http://schemas.microsoft.com/office/drawing/2014/main" id="{4F4F90E0-784B-587C-63E7-76F9AD8FBDB0}"/>
              </a:ext>
            </a:extLst>
          </p:cNvPr>
          <p:cNvSpPr/>
          <p:nvPr/>
        </p:nvSpPr>
        <p:spPr>
          <a:xfrm>
            <a:off x="274320" y="1664208"/>
            <a:ext cx="5303520" cy="38404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79" name="Text 7">
            <a:extLst>
              <a:ext uri="{FF2B5EF4-FFF2-40B4-BE49-F238E27FC236}">
                <a16:creationId xmlns:a16="http://schemas.microsoft.com/office/drawing/2014/main" id="{F05D0DEA-5BFF-E389-0165-A14CE642265B}"/>
              </a:ext>
            </a:extLst>
          </p:cNvPr>
          <p:cNvSpPr/>
          <p:nvPr/>
        </p:nvSpPr>
        <p:spPr>
          <a:xfrm>
            <a:off x="274320" y="166420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 STEPS</a:t>
            </a:r>
            <a:endParaRPr lang="en-US" sz="1100" dirty="0"/>
          </a:p>
        </p:txBody>
      </p:sp>
      <p:sp>
        <p:nvSpPr>
          <p:cNvPr id="281" name="Shape 8">
            <a:extLst>
              <a:ext uri="{FF2B5EF4-FFF2-40B4-BE49-F238E27FC236}">
                <a16:creationId xmlns:a16="http://schemas.microsoft.com/office/drawing/2014/main" id="{E52C158D-A014-A6A1-78F4-8B1304CF73F7}"/>
              </a:ext>
            </a:extLst>
          </p:cNvPr>
          <p:cNvSpPr/>
          <p:nvPr/>
        </p:nvSpPr>
        <p:spPr>
          <a:xfrm>
            <a:off x="562356" y="2624328"/>
            <a:ext cx="36576" cy="6400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83" name="Shape 9">
            <a:extLst>
              <a:ext uri="{FF2B5EF4-FFF2-40B4-BE49-F238E27FC236}">
                <a16:creationId xmlns:a16="http://schemas.microsoft.com/office/drawing/2014/main" id="{EBB11BBE-513A-49D8-46D4-7160B89E59AF}"/>
              </a:ext>
            </a:extLst>
          </p:cNvPr>
          <p:cNvSpPr/>
          <p:nvPr/>
        </p:nvSpPr>
        <p:spPr>
          <a:xfrm>
            <a:off x="562356" y="2734056"/>
            <a:ext cx="36576" cy="6400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85" name="Shape 10">
            <a:extLst>
              <a:ext uri="{FF2B5EF4-FFF2-40B4-BE49-F238E27FC236}">
                <a16:creationId xmlns:a16="http://schemas.microsoft.com/office/drawing/2014/main" id="{A9C203A8-2E77-744C-4F93-09622ED22CB7}"/>
              </a:ext>
            </a:extLst>
          </p:cNvPr>
          <p:cNvSpPr/>
          <p:nvPr/>
        </p:nvSpPr>
        <p:spPr>
          <a:xfrm>
            <a:off x="562356" y="2843784"/>
            <a:ext cx="36576" cy="6400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87" name="Shape 11">
            <a:extLst>
              <a:ext uri="{FF2B5EF4-FFF2-40B4-BE49-F238E27FC236}">
                <a16:creationId xmlns:a16="http://schemas.microsoft.com/office/drawing/2014/main" id="{1BCB6047-6B1D-B736-06A3-E0803A9D7E6E}"/>
              </a:ext>
            </a:extLst>
          </p:cNvPr>
          <p:cNvSpPr/>
          <p:nvPr/>
        </p:nvSpPr>
        <p:spPr>
          <a:xfrm>
            <a:off x="562356" y="2953512"/>
            <a:ext cx="36576" cy="6400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89" name="Shape 12">
            <a:extLst>
              <a:ext uri="{FF2B5EF4-FFF2-40B4-BE49-F238E27FC236}">
                <a16:creationId xmlns:a16="http://schemas.microsoft.com/office/drawing/2014/main" id="{B228785F-C166-5365-15B8-354985A6B3E0}"/>
              </a:ext>
            </a:extLst>
          </p:cNvPr>
          <p:cNvSpPr/>
          <p:nvPr/>
        </p:nvSpPr>
        <p:spPr>
          <a:xfrm>
            <a:off x="274320" y="2148840"/>
            <a:ext cx="594360" cy="594360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291" name="Text 13">
            <a:extLst>
              <a:ext uri="{FF2B5EF4-FFF2-40B4-BE49-F238E27FC236}">
                <a16:creationId xmlns:a16="http://schemas.microsoft.com/office/drawing/2014/main" id="{A34B505B-825B-622B-763B-B1FE80A01B6D}"/>
              </a:ext>
            </a:extLst>
          </p:cNvPr>
          <p:cNvSpPr/>
          <p:nvPr/>
        </p:nvSpPr>
        <p:spPr>
          <a:xfrm>
            <a:off x="27432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🗄️</a:t>
            </a:r>
            <a:endParaRPr lang="en-US" sz="1600" dirty="0"/>
          </a:p>
        </p:txBody>
      </p:sp>
      <p:sp>
        <p:nvSpPr>
          <p:cNvPr id="293" name="Shape 14">
            <a:extLst>
              <a:ext uri="{FF2B5EF4-FFF2-40B4-BE49-F238E27FC236}">
                <a16:creationId xmlns:a16="http://schemas.microsoft.com/office/drawing/2014/main" id="{9A84DB20-6D05-C1B4-005C-1D943CD40AA2}"/>
              </a:ext>
            </a:extLst>
          </p:cNvPr>
          <p:cNvSpPr/>
          <p:nvPr/>
        </p:nvSpPr>
        <p:spPr>
          <a:xfrm>
            <a:off x="987552" y="2103120"/>
            <a:ext cx="4572000" cy="749808"/>
          </a:xfrm>
          <a:prstGeom prst="roundRect">
            <a:avLst>
              <a:gd name="adj" fmla="val 7317"/>
            </a:avLst>
          </a:prstGeom>
          <a:solidFill>
            <a:srgbClr val="E8EEF7"/>
          </a:solidFill>
          <a:ln/>
        </p:spPr>
      </p:sp>
      <p:sp>
        <p:nvSpPr>
          <p:cNvPr id="295" name="Text 15">
            <a:extLst>
              <a:ext uri="{FF2B5EF4-FFF2-40B4-BE49-F238E27FC236}">
                <a16:creationId xmlns:a16="http://schemas.microsoft.com/office/drawing/2014/main" id="{93FF5AB7-E1B2-8D06-22B3-FF4FB058B424}"/>
              </a:ext>
            </a:extLst>
          </p:cNvPr>
          <p:cNvSpPr/>
          <p:nvPr/>
        </p:nvSpPr>
        <p:spPr>
          <a:xfrm>
            <a:off x="1078992" y="2148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 IMPORT</a:t>
            </a:r>
            <a:endParaRPr lang="en-US" sz="1050" dirty="0"/>
          </a:p>
        </p:txBody>
      </p:sp>
      <p:sp>
        <p:nvSpPr>
          <p:cNvPr id="297" name="Text 16">
            <a:extLst>
              <a:ext uri="{FF2B5EF4-FFF2-40B4-BE49-F238E27FC236}">
                <a16:creationId xmlns:a16="http://schemas.microsoft.com/office/drawing/2014/main" id="{43CAC0C5-C530-9528-5C43-AF513FC1FF28}"/>
              </a:ext>
            </a:extLst>
          </p:cNvPr>
          <p:cNvSpPr/>
          <p:nvPr/>
        </p:nvSpPr>
        <p:spPr>
          <a:xfrm>
            <a:off x="1078992" y="24048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Imported customer shopping dataset</a:t>
            </a:r>
            <a:r>
              <a:rPr lang="en-US" sz="1100" dirty="0"/>
              <a:t> i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nto Power BI.</a:t>
            </a:r>
            <a:endParaRPr lang="en-US" sz="1100" dirty="0"/>
          </a:p>
        </p:txBody>
      </p:sp>
      <p:sp>
        <p:nvSpPr>
          <p:cNvPr id="299" name="Shape 17">
            <a:extLst>
              <a:ext uri="{FF2B5EF4-FFF2-40B4-BE49-F238E27FC236}">
                <a16:creationId xmlns:a16="http://schemas.microsoft.com/office/drawing/2014/main" id="{75F45597-49DA-6DD2-51FE-E1ACA685F00D}"/>
              </a:ext>
            </a:extLst>
          </p:cNvPr>
          <p:cNvSpPr/>
          <p:nvPr/>
        </p:nvSpPr>
        <p:spPr>
          <a:xfrm>
            <a:off x="562356" y="3511296"/>
            <a:ext cx="36576" cy="6400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01" name="Shape 18">
            <a:extLst>
              <a:ext uri="{FF2B5EF4-FFF2-40B4-BE49-F238E27FC236}">
                <a16:creationId xmlns:a16="http://schemas.microsoft.com/office/drawing/2014/main" id="{10F4A379-7BDE-6ABB-C601-0C2C94140043}"/>
              </a:ext>
            </a:extLst>
          </p:cNvPr>
          <p:cNvSpPr/>
          <p:nvPr/>
        </p:nvSpPr>
        <p:spPr>
          <a:xfrm>
            <a:off x="562356" y="3621024"/>
            <a:ext cx="36576" cy="6400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03" name="Shape 19">
            <a:extLst>
              <a:ext uri="{FF2B5EF4-FFF2-40B4-BE49-F238E27FC236}">
                <a16:creationId xmlns:a16="http://schemas.microsoft.com/office/drawing/2014/main" id="{30C13859-6187-418E-B5D7-16C03F1F5D7E}"/>
              </a:ext>
            </a:extLst>
          </p:cNvPr>
          <p:cNvSpPr/>
          <p:nvPr/>
        </p:nvSpPr>
        <p:spPr>
          <a:xfrm>
            <a:off x="562356" y="3730752"/>
            <a:ext cx="36576" cy="6400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05" name="Shape 20">
            <a:extLst>
              <a:ext uri="{FF2B5EF4-FFF2-40B4-BE49-F238E27FC236}">
                <a16:creationId xmlns:a16="http://schemas.microsoft.com/office/drawing/2014/main" id="{A1669709-E825-31F5-94E5-BD5357059BC9}"/>
              </a:ext>
            </a:extLst>
          </p:cNvPr>
          <p:cNvSpPr/>
          <p:nvPr/>
        </p:nvSpPr>
        <p:spPr>
          <a:xfrm>
            <a:off x="562356" y="3840480"/>
            <a:ext cx="36576" cy="6400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07" name="Shape 21">
            <a:extLst>
              <a:ext uri="{FF2B5EF4-FFF2-40B4-BE49-F238E27FC236}">
                <a16:creationId xmlns:a16="http://schemas.microsoft.com/office/drawing/2014/main" id="{1BCCFB81-EE16-12A1-C06E-0F39CC490BF1}"/>
              </a:ext>
            </a:extLst>
          </p:cNvPr>
          <p:cNvSpPr/>
          <p:nvPr/>
        </p:nvSpPr>
        <p:spPr>
          <a:xfrm>
            <a:off x="274320" y="3035808"/>
            <a:ext cx="594360" cy="594360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309" name="Text 22">
            <a:extLst>
              <a:ext uri="{FF2B5EF4-FFF2-40B4-BE49-F238E27FC236}">
                <a16:creationId xmlns:a16="http://schemas.microsoft.com/office/drawing/2014/main" id="{F4EA7A56-AEA7-D5CB-C6A0-044C5A0711D8}"/>
              </a:ext>
            </a:extLst>
          </p:cNvPr>
          <p:cNvSpPr/>
          <p:nvPr/>
        </p:nvSpPr>
        <p:spPr>
          <a:xfrm>
            <a:off x="274320" y="30358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🧹</a:t>
            </a:r>
            <a:endParaRPr lang="en-US" sz="1600" dirty="0"/>
          </a:p>
        </p:txBody>
      </p:sp>
      <p:sp>
        <p:nvSpPr>
          <p:cNvPr id="311" name="Shape 23">
            <a:extLst>
              <a:ext uri="{FF2B5EF4-FFF2-40B4-BE49-F238E27FC236}">
                <a16:creationId xmlns:a16="http://schemas.microsoft.com/office/drawing/2014/main" id="{DAC4D72E-C7E3-4994-43B0-61CBED3065C7}"/>
              </a:ext>
            </a:extLst>
          </p:cNvPr>
          <p:cNvSpPr/>
          <p:nvPr/>
        </p:nvSpPr>
        <p:spPr>
          <a:xfrm>
            <a:off x="987552" y="2990088"/>
            <a:ext cx="4572000" cy="749808"/>
          </a:xfrm>
          <a:prstGeom prst="roundRect">
            <a:avLst>
              <a:gd name="adj" fmla="val 7317"/>
            </a:avLst>
          </a:prstGeom>
          <a:solidFill>
            <a:srgbClr val="E8EEF7"/>
          </a:solidFill>
          <a:ln/>
        </p:spPr>
      </p:sp>
      <p:sp>
        <p:nvSpPr>
          <p:cNvPr id="313" name="Text 24">
            <a:extLst>
              <a:ext uri="{FF2B5EF4-FFF2-40B4-BE49-F238E27FC236}">
                <a16:creationId xmlns:a16="http://schemas.microsoft.com/office/drawing/2014/main" id="{623C2002-A4C3-2EEC-6503-3A7F99B0F24D}"/>
              </a:ext>
            </a:extLst>
          </p:cNvPr>
          <p:cNvSpPr/>
          <p:nvPr/>
        </p:nvSpPr>
        <p:spPr>
          <a:xfrm>
            <a:off x="1078992" y="3035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DATA CLEANING</a:t>
            </a:r>
            <a:endParaRPr lang="en-US" sz="1050" dirty="0"/>
          </a:p>
        </p:txBody>
      </p:sp>
      <p:sp>
        <p:nvSpPr>
          <p:cNvPr id="315" name="Text 25">
            <a:extLst>
              <a:ext uri="{FF2B5EF4-FFF2-40B4-BE49-F238E27FC236}">
                <a16:creationId xmlns:a16="http://schemas.microsoft.com/office/drawing/2014/main" id="{88EF245B-67EA-E4C7-F8A9-DFC3ACF02052}"/>
              </a:ext>
            </a:extLst>
          </p:cNvPr>
          <p:cNvSpPr/>
          <p:nvPr/>
        </p:nvSpPr>
        <p:spPr>
          <a:xfrm>
            <a:off x="1078992" y="32918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100" dirty="0"/>
              <a:t>Verified data types and checked dataset consistency before analysis.</a:t>
            </a:r>
            <a:endParaRPr lang="en-US" sz="1100" dirty="0"/>
          </a:p>
        </p:txBody>
      </p:sp>
      <p:sp>
        <p:nvSpPr>
          <p:cNvPr id="317" name="Shape 26">
            <a:extLst>
              <a:ext uri="{FF2B5EF4-FFF2-40B4-BE49-F238E27FC236}">
                <a16:creationId xmlns:a16="http://schemas.microsoft.com/office/drawing/2014/main" id="{D0726FA8-CB41-EF63-788C-9A727F71FD15}"/>
              </a:ext>
            </a:extLst>
          </p:cNvPr>
          <p:cNvSpPr/>
          <p:nvPr/>
        </p:nvSpPr>
        <p:spPr>
          <a:xfrm>
            <a:off x="562356" y="4398264"/>
            <a:ext cx="36576" cy="6400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19" name="Shape 27">
            <a:extLst>
              <a:ext uri="{FF2B5EF4-FFF2-40B4-BE49-F238E27FC236}">
                <a16:creationId xmlns:a16="http://schemas.microsoft.com/office/drawing/2014/main" id="{881F8F0C-E57C-987B-426B-FFD14BEE12CF}"/>
              </a:ext>
            </a:extLst>
          </p:cNvPr>
          <p:cNvSpPr/>
          <p:nvPr/>
        </p:nvSpPr>
        <p:spPr>
          <a:xfrm>
            <a:off x="562356" y="4507992"/>
            <a:ext cx="36576" cy="6400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21" name="Shape 28">
            <a:extLst>
              <a:ext uri="{FF2B5EF4-FFF2-40B4-BE49-F238E27FC236}">
                <a16:creationId xmlns:a16="http://schemas.microsoft.com/office/drawing/2014/main" id="{BBBDFA7B-DBFD-B7D4-6112-FA21C4FF59C6}"/>
              </a:ext>
            </a:extLst>
          </p:cNvPr>
          <p:cNvSpPr/>
          <p:nvPr/>
        </p:nvSpPr>
        <p:spPr>
          <a:xfrm>
            <a:off x="562356" y="4617720"/>
            <a:ext cx="36576" cy="6400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23" name="Shape 29">
            <a:extLst>
              <a:ext uri="{FF2B5EF4-FFF2-40B4-BE49-F238E27FC236}">
                <a16:creationId xmlns:a16="http://schemas.microsoft.com/office/drawing/2014/main" id="{3BC21A9F-37DE-5E60-F15B-11F711EAC28E}"/>
              </a:ext>
            </a:extLst>
          </p:cNvPr>
          <p:cNvSpPr/>
          <p:nvPr/>
        </p:nvSpPr>
        <p:spPr>
          <a:xfrm>
            <a:off x="562356" y="4727448"/>
            <a:ext cx="36576" cy="6400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25" name="Shape 30">
            <a:extLst>
              <a:ext uri="{FF2B5EF4-FFF2-40B4-BE49-F238E27FC236}">
                <a16:creationId xmlns:a16="http://schemas.microsoft.com/office/drawing/2014/main" id="{2CA8EC21-D109-D6E5-CE2C-875E81EC06BC}"/>
              </a:ext>
            </a:extLst>
          </p:cNvPr>
          <p:cNvSpPr/>
          <p:nvPr/>
        </p:nvSpPr>
        <p:spPr>
          <a:xfrm>
            <a:off x="274320" y="3922776"/>
            <a:ext cx="594360" cy="594360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327" name="Text 31">
            <a:extLst>
              <a:ext uri="{FF2B5EF4-FFF2-40B4-BE49-F238E27FC236}">
                <a16:creationId xmlns:a16="http://schemas.microsoft.com/office/drawing/2014/main" id="{457140E9-531E-FC4B-9777-E24423C5D994}"/>
              </a:ext>
            </a:extLst>
          </p:cNvPr>
          <p:cNvSpPr/>
          <p:nvPr/>
        </p:nvSpPr>
        <p:spPr>
          <a:xfrm>
            <a:off x="274320" y="392277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329" name="Shape 32">
            <a:extLst>
              <a:ext uri="{FF2B5EF4-FFF2-40B4-BE49-F238E27FC236}">
                <a16:creationId xmlns:a16="http://schemas.microsoft.com/office/drawing/2014/main" id="{A73AF701-4B29-0B27-675A-90A5245A02D2}"/>
              </a:ext>
            </a:extLst>
          </p:cNvPr>
          <p:cNvSpPr/>
          <p:nvPr/>
        </p:nvSpPr>
        <p:spPr>
          <a:xfrm>
            <a:off x="987552" y="3877056"/>
            <a:ext cx="4572000" cy="749808"/>
          </a:xfrm>
          <a:prstGeom prst="roundRect">
            <a:avLst>
              <a:gd name="adj" fmla="val 7317"/>
            </a:avLst>
          </a:prstGeom>
          <a:solidFill>
            <a:srgbClr val="E8EEF7"/>
          </a:solidFill>
          <a:ln/>
        </p:spPr>
      </p:sp>
      <p:sp>
        <p:nvSpPr>
          <p:cNvPr id="331" name="Text 33">
            <a:extLst>
              <a:ext uri="{FF2B5EF4-FFF2-40B4-BE49-F238E27FC236}">
                <a16:creationId xmlns:a16="http://schemas.microsoft.com/office/drawing/2014/main" id="{46335A4A-977B-C68C-6517-38C1AE787896}"/>
              </a:ext>
            </a:extLst>
          </p:cNvPr>
          <p:cNvSpPr/>
          <p:nvPr/>
        </p:nvSpPr>
        <p:spPr>
          <a:xfrm>
            <a:off x="1078992" y="39227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DATA TRANSFORMATION</a:t>
            </a:r>
            <a:endParaRPr lang="en-US" sz="1050" dirty="0"/>
          </a:p>
        </p:txBody>
      </p:sp>
      <p:sp>
        <p:nvSpPr>
          <p:cNvPr id="333" name="Text 34">
            <a:extLst>
              <a:ext uri="{FF2B5EF4-FFF2-40B4-BE49-F238E27FC236}">
                <a16:creationId xmlns:a16="http://schemas.microsoft.com/office/drawing/2014/main" id="{A12E9965-F113-F345-DCB0-6269434022E6}"/>
              </a:ext>
            </a:extLst>
          </p:cNvPr>
          <p:cNvSpPr/>
          <p:nvPr/>
        </p:nvSpPr>
        <p:spPr>
          <a:xfrm>
            <a:off x="1078992" y="41788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100" dirty="0"/>
              <a:t>Formatted the Invoice Date column, created the Age Group column, and calculated the Total Revenue column.</a:t>
            </a:r>
            <a:endParaRPr lang="en-US" sz="1100" dirty="0"/>
          </a:p>
        </p:txBody>
      </p:sp>
      <p:sp>
        <p:nvSpPr>
          <p:cNvPr id="335" name="Shape 35">
            <a:extLst>
              <a:ext uri="{FF2B5EF4-FFF2-40B4-BE49-F238E27FC236}">
                <a16:creationId xmlns:a16="http://schemas.microsoft.com/office/drawing/2014/main" id="{F749A7A3-CAB0-0B28-D9E7-2BB802132433}"/>
              </a:ext>
            </a:extLst>
          </p:cNvPr>
          <p:cNvSpPr/>
          <p:nvPr/>
        </p:nvSpPr>
        <p:spPr>
          <a:xfrm>
            <a:off x="562356" y="5285232"/>
            <a:ext cx="36576" cy="6400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37" name="Shape 36">
            <a:extLst>
              <a:ext uri="{FF2B5EF4-FFF2-40B4-BE49-F238E27FC236}">
                <a16:creationId xmlns:a16="http://schemas.microsoft.com/office/drawing/2014/main" id="{5B635F65-C308-C682-2E22-2B6D0E6A9EAD}"/>
              </a:ext>
            </a:extLst>
          </p:cNvPr>
          <p:cNvSpPr/>
          <p:nvPr/>
        </p:nvSpPr>
        <p:spPr>
          <a:xfrm>
            <a:off x="562356" y="5394960"/>
            <a:ext cx="36576" cy="6400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39" name="Shape 37">
            <a:extLst>
              <a:ext uri="{FF2B5EF4-FFF2-40B4-BE49-F238E27FC236}">
                <a16:creationId xmlns:a16="http://schemas.microsoft.com/office/drawing/2014/main" id="{DD7CB37C-2F9E-35A1-87E7-788FFCD685DE}"/>
              </a:ext>
            </a:extLst>
          </p:cNvPr>
          <p:cNvSpPr/>
          <p:nvPr/>
        </p:nvSpPr>
        <p:spPr>
          <a:xfrm>
            <a:off x="562356" y="5504688"/>
            <a:ext cx="36576" cy="6400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41" name="Shape 38">
            <a:extLst>
              <a:ext uri="{FF2B5EF4-FFF2-40B4-BE49-F238E27FC236}">
                <a16:creationId xmlns:a16="http://schemas.microsoft.com/office/drawing/2014/main" id="{8BAEA864-2803-A71A-F33B-8D74D7010973}"/>
              </a:ext>
            </a:extLst>
          </p:cNvPr>
          <p:cNvSpPr/>
          <p:nvPr/>
        </p:nvSpPr>
        <p:spPr>
          <a:xfrm>
            <a:off x="562356" y="5614416"/>
            <a:ext cx="36576" cy="6400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43" name="Shape 39">
            <a:extLst>
              <a:ext uri="{FF2B5EF4-FFF2-40B4-BE49-F238E27FC236}">
                <a16:creationId xmlns:a16="http://schemas.microsoft.com/office/drawing/2014/main" id="{E2220DBC-5720-895A-F3C4-628A2F5BDC53}"/>
              </a:ext>
            </a:extLst>
          </p:cNvPr>
          <p:cNvSpPr/>
          <p:nvPr/>
        </p:nvSpPr>
        <p:spPr>
          <a:xfrm>
            <a:off x="274320" y="4809744"/>
            <a:ext cx="594360" cy="594360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345" name="Text 40">
            <a:extLst>
              <a:ext uri="{FF2B5EF4-FFF2-40B4-BE49-F238E27FC236}">
                <a16:creationId xmlns:a16="http://schemas.microsoft.com/office/drawing/2014/main" id="{776620B6-D7D9-5744-A8CA-5B536C6CF53D}"/>
              </a:ext>
            </a:extLst>
          </p:cNvPr>
          <p:cNvSpPr/>
          <p:nvPr/>
        </p:nvSpPr>
        <p:spPr>
          <a:xfrm>
            <a:off x="274320" y="480974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347" name="Shape 41">
            <a:extLst>
              <a:ext uri="{FF2B5EF4-FFF2-40B4-BE49-F238E27FC236}">
                <a16:creationId xmlns:a16="http://schemas.microsoft.com/office/drawing/2014/main" id="{8A1ECB65-C58F-DF37-52AE-9E7F5DD8B198}"/>
              </a:ext>
            </a:extLst>
          </p:cNvPr>
          <p:cNvSpPr/>
          <p:nvPr/>
        </p:nvSpPr>
        <p:spPr>
          <a:xfrm>
            <a:off x="987552" y="4764024"/>
            <a:ext cx="4572000" cy="749808"/>
          </a:xfrm>
          <a:prstGeom prst="roundRect">
            <a:avLst>
              <a:gd name="adj" fmla="val 7317"/>
            </a:avLst>
          </a:prstGeom>
          <a:solidFill>
            <a:srgbClr val="E8EEF7"/>
          </a:solidFill>
          <a:ln/>
        </p:spPr>
      </p:sp>
      <p:sp>
        <p:nvSpPr>
          <p:cNvPr id="349" name="Text 42">
            <a:extLst>
              <a:ext uri="{FF2B5EF4-FFF2-40B4-BE49-F238E27FC236}">
                <a16:creationId xmlns:a16="http://schemas.microsoft.com/office/drawing/2014/main" id="{1BB0EB67-AAAE-03F3-7167-A49462478954}"/>
              </a:ext>
            </a:extLst>
          </p:cNvPr>
          <p:cNvSpPr/>
          <p:nvPr/>
        </p:nvSpPr>
        <p:spPr>
          <a:xfrm>
            <a:off x="1078992" y="480974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50" dirty="0"/>
              <a:t>4.DAX MEASURES</a:t>
            </a:r>
            <a:endParaRPr lang="en-US" sz="1050" dirty="0"/>
          </a:p>
        </p:txBody>
      </p:sp>
      <p:sp>
        <p:nvSpPr>
          <p:cNvPr id="351" name="Text 43">
            <a:extLst>
              <a:ext uri="{FF2B5EF4-FFF2-40B4-BE49-F238E27FC236}">
                <a16:creationId xmlns:a16="http://schemas.microsoft.com/office/drawing/2014/main" id="{EBE4F38D-BD2A-9A15-0883-F63566FB75D8}"/>
              </a:ext>
            </a:extLst>
          </p:cNvPr>
          <p:cNvSpPr/>
          <p:nvPr/>
        </p:nvSpPr>
        <p:spPr>
          <a:xfrm>
            <a:off x="1078992" y="506577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100" dirty="0"/>
              <a:t>Created KPI measures including Total Revenue, Total Transactions, Average Order Value, and Total Units Sold.</a:t>
            </a:r>
            <a:endParaRPr lang="en-US" sz="1100" dirty="0"/>
          </a:p>
        </p:txBody>
      </p:sp>
      <p:sp>
        <p:nvSpPr>
          <p:cNvPr id="353" name="Shape 44">
            <a:extLst>
              <a:ext uri="{FF2B5EF4-FFF2-40B4-BE49-F238E27FC236}">
                <a16:creationId xmlns:a16="http://schemas.microsoft.com/office/drawing/2014/main" id="{CF14BF5E-0515-002B-A382-4DE8690B750A}"/>
              </a:ext>
            </a:extLst>
          </p:cNvPr>
          <p:cNvSpPr/>
          <p:nvPr/>
        </p:nvSpPr>
        <p:spPr>
          <a:xfrm>
            <a:off x="274320" y="5696712"/>
            <a:ext cx="594360" cy="594360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355" name="Text 45">
            <a:extLst>
              <a:ext uri="{FF2B5EF4-FFF2-40B4-BE49-F238E27FC236}">
                <a16:creationId xmlns:a16="http://schemas.microsoft.com/office/drawing/2014/main" id="{906A9E8D-D520-7142-FA44-7D40FA969436}"/>
              </a:ext>
            </a:extLst>
          </p:cNvPr>
          <p:cNvSpPr/>
          <p:nvPr/>
        </p:nvSpPr>
        <p:spPr>
          <a:xfrm>
            <a:off x="274320" y="56967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357" name="Shape 46">
            <a:extLst>
              <a:ext uri="{FF2B5EF4-FFF2-40B4-BE49-F238E27FC236}">
                <a16:creationId xmlns:a16="http://schemas.microsoft.com/office/drawing/2014/main" id="{1233B445-F41A-5FDC-166D-283C3BC74825}"/>
              </a:ext>
            </a:extLst>
          </p:cNvPr>
          <p:cNvSpPr/>
          <p:nvPr/>
        </p:nvSpPr>
        <p:spPr>
          <a:xfrm>
            <a:off x="987552" y="5650992"/>
            <a:ext cx="4572000" cy="749808"/>
          </a:xfrm>
          <a:prstGeom prst="roundRect">
            <a:avLst>
              <a:gd name="adj" fmla="val 7317"/>
            </a:avLst>
          </a:prstGeom>
          <a:solidFill>
            <a:srgbClr val="E8EEF7"/>
          </a:solidFill>
          <a:ln/>
        </p:spPr>
      </p:sp>
      <p:sp>
        <p:nvSpPr>
          <p:cNvPr id="359" name="Text 47">
            <a:extLst>
              <a:ext uri="{FF2B5EF4-FFF2-40B4-BE49-F238E27FC236}">
                <a16:creationId xmlns:a16="http://schemas.microsoft.com/office/drawing/2014/main" id="{E770ADED-44A5-D3DE-DB3F-1AC46A400973}"/>
              </a:ext>
            </a:extLst>
          </p:cNvPr>
          <p:cNvSpPr/>
          <p:nvPr/>
        </p:nvSpPr>
        <p:spPr>
          <a:xfrm>
            <a:off x="1078992" y="56967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DATA VALIDATION</a:t>
            </a:r>
            <a:endParaRPr lang="en-US" sz="1050" dirty="0"/>
          </a:p>
        </p:txBody>
      </p:sp>
      <p:sp>
        <p:nvSpPr>
          <p:cNvPr id="361" name="Text 48">
            <a:extLst>
              <a:ext uri="{FF2B5EF4-FFF2-40B4-BE49-F238E27FC236}">
                <a16:creationId xmlns:a16="http://schemas.microsoft.com/office/drawing/2014/main" id="{A3E1385A-1B31-03F9-C037-44A0D08F396D}"/>
              </a:ext>
            </a:extLst>
          </p:cNvPr>
          <p:cNvSpPr/>
          <p:nvPr/>
        </p:nvSpPr>
        <p:spPr>
          <a:xfrm>
            <a:off x="1078992" y="595274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100" dirty="0"/>
              <a:t>Designed interactive dashboards using KPI cards, charts, slicers, and filters for customer </a:t>
            </a:r>
            <a:r>
              <a:rPr lang="en-IN" sz="1100" dirty="0" err="1"/>
              <a:t>behavior</a:t>
            </a:r>
            <a:r>
              <a:rPr lang="en-IN" sz="1100" dirty="0"/>
              <a:t> analysis.</a:t>
            </a:r>
            <a:endParaRPr lang="en-US" sz="1100" dirty="0"/>
          </a:p>
        </p:txBody>
      </p:sp>
      <p:sp>
        <p:nvSpPr>
          <p:cNvPr id="363" name="Shape 49">
            <a:extLst>
              <a:ext uri="{FF2B5EF4-FFF2-40B4-BE49-F238E27FC236}">
                <a16:creationId xmlns:a16="http://schemas.microsoft.com/office/drawing/2014/main" id="{5BB34A70-DD1E-8600-E876-A18A79757CCF}"/>
              </a:ext>
            </a:extLst>
          </p:cNvPr>
          <p:cNvSpPr/>
          <p:nvPr/>
        </p:nvSpPr>
        <p:spPr>
          <a:xfrm>
            <a:off x="5989320" y="1664208"/>
            <a:ext cx="5897880" cy="38404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65" name="Text 50">
            <a:extLst>
              <a:ext uri="{FF2B5EF4-FFF2-40B4-BE49-F238E27FC236}">
                <a16:creationId xmlns:a16="http://schemas.microsoft.com/office/drawing/2014/main" id="{A31534FC-78FB-E48F-DA97-15B5ADD11CCE}"/>
              </a:ext>
            </a:extLst>
          </p:cNvPr>
          <p:cNvSpPr/>
          <p:nvPr/>
        </p:nvSpPr>
        <p:spPr>
          <a:xfrm>
            <a:off x="5989320" y="1664208"/>
            <a:ext cx="5897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  (KPIs)</a:t>
            </a:r>
            <a:endParaRPr lang="en-US" sz="1100" dirty="0"/>
          </a:p>
        </p:txBody>
      </p:sp>
      <p:sp>
        <p:nvSpPr>
          <p:cNvPr id="367" name="Shape 51">
            <a:extLst>
              <a:ext uri="{FF2B5EF4-FFF2-40B4-BE49-F238E27FC236}">
                <a16:creationId xmlns:a16="http://schemas.microsoft.com/office/drawing/2014/main" id="{BF064BC9-3441-97E0-F532-27E5AE404FFE}"/>
              </a:ext>
            </a:extLst>
          </p:cNvPr>
          <p:cNvSpPr/>
          <p:nvPr/>
        </p:nvSpPr>
        <p:spPr>
          <a:xfrm>
            <a:off x="6080760" y="2148840"/>
            <a:ext cx="1353312" cy="141732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AAAAAA">
                <a:alpha val="20000"/>
              </a:srgbClr>
            </a:outerShdw>
          </a:effectLst>
        </p:spPr>
      </p:sp>
      <p:sp>
        <p:nvSpPr>
          <p:cNvPr id="369" name="Shape 52">
            <a:extLst>
              <a:ext uri="{FF2B5EF4-FFF2-40B4-BE49-F238E27FC236}">
                <a16:creationId xmlns:a16="http://schemas.microsoft.com/office/drawing/2014/main" id="{71CAA4DB-26BE-9045-4EB9-E2FA122A11BF}"/>
              </a:ext>
            </a:extLst>
          </p:cNvPr>
          <p:cNvSpPr/>
          <p:nvPr/>
        </p:nvSpPr>
        <p:spPr>
          <a:xfrm>
            <a:off x="6464808" y="2212848"/>
            <a:ext cx="594360" cy="5943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371" name="Text 53">
            <a:extLst>
              <a:ext uri="{FF2B5EF4-FFF2-40B4-BE49-F238E27FC236}">
                <a16:creationId xmlns:a16="http://schemas.microsoft.com/office/drawing/2014/main" id="{9DBE2C0B-46B1-A8E2-C60B-29ED92F07D64}"/>
              </a:ext>
            </a:extLst>
          </p:cNvPr>
          <p:cNvSpPr/>
          <p:nvPr/>
        </p:nvSpPr>
        <p:spPr>
          <a:xfrm>
            <a:off x="6464808" y="22128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₹</a:t>
            </a:r>
            <a:endParaRPr lang="en-US" sz="1800" dirty="0"/>
          </a:p>
        </p:txBody>
      </p:sp>
      <p:sp>
        <p:nvSpPr>
          <p:cNvPr id="373" name="Text 54">
            <a:extLst>
              <a:ext uri="{FF2B5EF4-FFF2-40B4-BE49-F238E27FC236}">
                <a16:creationId xmlns:a16="http://schemas.microsoft.com/office/drawing/2014/main" id="{8DD80353-29F6-3AD7-DDA4-53E5A5F5B0E9}"/>
              </a:ext>
            </a:extLst>
          </p:cNvPr>
          <p:cNvSpPr/>
          <p:nvPr/>
        </p:nvSpPr>
        <p:spPr>
          <a:xfrm>
            <a:off x="6080760" y="2852928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₹251.51M</a:t>
            </a:r>
            <a:endParaRPr lang="en-US" sz="1600" dirty="0"/>
          </a:p>
        </p:txBody>
      </p:sp>
      <p:sp>
        <p:nvSpPr>
          <p:cNvPr id="375" name="Text 55">
            <a:extLst>
              <a:ext uri="{FF2B5EF4-FFF2-40B4-BE49-F238E27FC236}">
                <a16:creationId xmlns:a16="http://schemas.microsoft.com/office/drawing/2014/main" id="{8825C769-72A8-5F64-CA94-99F5AB1825E2}"/>
              </a:ext>
            </a:extLst>
          </p:cNvPr>
          <p:cNvSpPr/>
          <p:nvPr/>
        </p:nvSpPr>
        <p:spPr>
          <a:xfrm>
            <a:off x="6080760" y="321868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377" name="Shape 56">
            <a:extLst>
              <a:ext uri="{FF2B5EF4-FFF2-40B4-BE49-F238E27FC236}">
                <a16:creationId xmlns:a16="http://schemas.microsoft.com/office/drawing/2014/main" id="{126B447D-E2A2-4A4E-7EF8-4F599FDA7D74}"/>
              </a:ext>
            </a:extLst>
          </p:cNvPr>
          <p:cNvSpPr/>
          <p:nvPr/>
        </p:nvSpPr>
        <p:spPr>
          <a:xfrm>
            <a:off x="7516368" y="2148840"/>
            <a:ext cx="1353312" cy="141732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AAAAAA">
                <a:alpha val="20000"/>
              </a:srgbClr>
            </a:outerShdw>
          </a:effectLst>
        </p:spPr>
      </p:sp>
      <p:sp>
        <p:nvSpPr>
          <p:cNvPr id="379" name="Shape 57">
            <a:extLst>
              <a:ext uri="{FF2B5EF4-FFF2-40B4-BE49-F238E27FC236}">
                <a16:creationId xmlns:a16="http://schemas.microsoft.com/office/drawing/2014/main" id="{963990EF-8AD7-AB1B-8D27-1143B3449965}"/>
              </a:ext>
            </a:extLst>
          </p:cNvPr>
          <p:cNvSpPr/>
          <p:nvPr/>
        </p:nvSpPr>
        <p:spPr>
          <a:xfrm>
            <a:off x="7900416" y="2212848"/>
            <a:ext cx="594360" cy="594360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381" name="Text 58">
            <a:extLst>
              <a:ext uri="{FF2B5EF4-FFF2-40B4-BE49-F238E27FC236}">
                <a16:creationId xmlns:a16="http://schemas.microsoft.com/office/drawing/2014/main" id="{9BBD6633-4E54-14D7-0905-D367BA73CC78}"/>
              </a:ext>
            </a:extLst>
          </p:cNvPr>
          <p:cNvSpPr/>
          <p:nvPr/>
        </p:nvSpPr>
        <p:spPr>
          <a:xfrm>
            <a:off x="7900416" y="22128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🛒</a:t>
            </a:r>
            <a:endParaRPr lang="en-US" sz="1800" dirty="0"/>
          </a:p>
        </p:txBody>
      </p:sp>
      <p:sp>
        <p:nvSpPr>
          <p:cNvPr id="383" name="Text 59">
            <a:extLst>
              <a:ext uri="{FF2B5EF4-FFF2-40B4-BE49-F238E27FC236}">
                <a16:creationId xmlns:a16="http://schemas.microsoft.com/office/drawing/2014/main" id="{FB31B372-F2FE-6094-957E-676DC1576763}"/>
              </a:ext>
            </a:extLst>
          </p:cNvPr>
          <p:cNvSpPr/>
          <p:nvPr/>
        </p:nvSpPr>
        <p:spPr>
          <a:xfrm>
            <a:off x="7516368" y="2852928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99K</a:t>
            </a:r>
            <a:endParaRPr lang="en-US" sz="1600" dirty="0"/>
          </a:p>
        </p:txBody>
      </p:sp>
      <p:sp>
        <p:nvSpPr>
          <p:cNvPr id="385" name="Text 60">
            <a:extLst>
              <a:ext uri="{FF2B5EF4-FFF2-40B4-BE49-F238E27FC236}">
                <a16:creationId xmlns:a16="http://schemas.microsoft.com/office/drawing/2014/main" id="{8D3FF0B3-9F6F-A440-18ED-900460D86AF5}"/>
              </a:ext>
            </a:extLst>
          </p:cNvPr>
          <p:cNvSpPr/>
          <p:nvPr/>
        </p:nvSpPr>
        <p:spPr>
          <a:xfrm>
            <a:off x="7516368" y="321868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900" dirty="0"/>
          </a:p>
        </p:txBody>
      </p:sp>
      <p:sp>
        <p:nvSpPr>
          <p:cNvPr id="387" name="Shape 61">
            <a:extLst>
              <a:ext uri="{FF2B5EF4-FFF2-40B4-BE49-F238E27FC236}">
                <a16:creationId xmlns:a16="http://schemas.microsoft.com/office/drawing/2014/main" id="{F7F4FE5B-A5F7-8CEE-6D27-B5C4DA27C843}"/>
              </a:ext>
            </a:extLst>
          </p:cNvPr>
          <p:cNvSpPr/>
          <p:nvPr/>
        </p:nvSpPr>
        <p:spPr>
          <a:xfrm>
            <a:off x="8951976" y="2148840"/>
            <a:ext cx="1353312" cy="141732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AAAAAA">
                <a:alpha val="20000"/>
              </a:srgbClr>
            </a:outerShdw>
          </a:effectLst>
        </p:spPr>
      </p:sp>
      <p:sp>
        <p:nvSpPr>
          <p:cNvPr id="389" name="Shape 62">
            <a:extLst>
              <a:ext uri="{FF2B5EF4-FFF2-40B4-BE49-F238E27FC236}">
                <a16:creationId xmlns:a16="http://schemas.microsoft.com/office/drawing/2014/main" id="{78EC223F-0F19-2FD3-8B4C-F3B29094873F}"/>
              </a:ext>
            </a:extLst>
          </p:cNvPr>
          <p:cNvSpPr/>
          <p:nvPr/>
        </p:nvSpPr>
        <p:spPr>
          <a:xfrm>
            <a:off x="9336024" y="2212848"/>
            <a:ext cx="594360" cy="5943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391" name="Text 63">
            <a:extLst>
              <a:ext uri="{FF2B5EF4-FFF2-40B4-BE49-F238E27FC236}">
                <a16:creationId xmlns:a16="http://schemas.microsoft.com/office/drawing/2014/main" id="{44651252-89F9-F2B8-7CF7-666DB3CF2BCA}"/>
              </a:ext>
            </a:extLst>
          </p:cNvPr>
          <p:cNvSpPr/>
          <p:nvPr/>
        </p:nvSpPr>
        <p:spPr>
          <a:xfrm>
            <a:off x="9336024" y="22128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93" name="Text 64">
            <a:extLst>
              <a:ext uri="{FF2B5EF4-FFF2-40B4-BE49-F238E27FC236}">
                <a16:creationId xmlns:a16="http://schemas.microsoft.com/office/drawing/2014/main" id="{59959535-8F0D-CFC6-6D0B-01AEB684D04A}"/>
              </a:ext>
            </a:extLst>
          </p:cNvPr>
          <p:cNvSpPr/>
          <p:nvPr/>
        </p:nvSpPr>
        <p:spPr>
          <a:xfrm>
            <a:off x="8951976" y="2852928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₹2.53K</a:t>
            </a:r>
            <a:endParaRPr lang="en-US" sz="1600" dirty="0"/>
          </a:p>
        </p:txBody>
      </p:sp>
      <p:sp>
        <p:nvSpPr>
          <p:cNvPr id="395" name="Text 65">
            <a:extLst>
              <a:ext uri="{FF2B5EF4-FFF2-40B4-BE49-F238E27FC236}">
                <a16:creationId xmlns:a16="http://schemas.microsoft.com/office/drawing/2014/main" id="{1F1E9031-564B-82AE-4C70-F44E4067031F}"/>
              </a:ext>
            </a:extLst>
          </p:cNvPr>
          <p:cNvSpPr/>
          <p:nvPr/>
        </p:nvSpPr>
        <p:spPr>
          <a:xfrm>
            <a:off x="8951976" y="321868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900" dirty="0"/>
          </a:p>
        </p:txBody>
      </p:sp>
      <p:sp>
        <p:nvSpPr>
          <p:cNvPr id="397" name="Shape 66">
            <a:extLst>
              <a:ext uri="{FF2B5EF4-FFF2-40B4-BE49-F238E27FC236}">
                <a16:creationId xmlns:a16="http://schemas.microsoft.com/office/drawing/2014/main" id="{566F8AB7-05F0-AFDE-1122-FB917F8A675C}"/>
              </a:ext>
            </a:extLst>
          </p:cNvPr>
          <p:cNvSpPr/>
          <p:nvPr/>
        </p:nvSpPr>
        <p:spPr>
          <a:xfrm>
            <a:off x="10387584" y="2148840"/>
            <a:ext cx="1353312" cy="141732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AAAAAA">
                <a:alpha val="20000"/>
              </a:srgbClr>
            </a:outerShdw>
          </a:effectLst>
        </p:spPr>
      </p:sp>
      <p:sp>
        <p:nvSpPr>
          <p:cNvPr id="399" name="Shape 67">
            <a:extLst>
              <a:ext uri="{FF2B5EF4-FFF2-40B4-BE49-F238E27FC236}">
                <a16:creationId xmlns:a16="http://schemas.microsoft.com/office/drawing/2014/main" id="{F915E3CD-FBEE-4387-AF0C-AD9B66F85570}"/>
              </a:ext>
            </a:extLst>
          </p:cNvPr>
          <p:cNvSpPr/>
          <p:nvPr/>
        </p:nvSpPr>
        <p:spPr>
          <a:xfrm>
            <a:off x="10771632" y="2212848"/>
            <a:ext cx="594360" cy="594360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401" name="Text 68">
            <a:extLst>
              <a:ext uri="{FF2B5EF4-FFF2-40B4-BE49-F238E27FC236}">
                <a16:creationId xmlns:a16="http://schemas.microsoft.com/office/drawing/2014/main" id="{3C78A606-7FFB-E999-FE3E-83A869E1ECA7}"/>
              </a:ext>
            </a:extLst>
          </p:cNvPr>
          <p:cNvSpPr/>
          <p:nvPr/>
        </p:nvSpPr>
        <p:spPr>
          <a:xfrm>
            <a:off x="10771632" y="22128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403" name="Text 69">
            <a:extLst>
              <a:ext uri="{FF2B5EF4-FFF2-40B4-BE49-F238E27FC236}">
                <a16:creationId xmlns:a16="http://schemas.microsoft.com/office/drawing/2014/main" id="{092AEF1F-32EB-C866-4FF7-37D9B7928E95}"/>
              </a:ext>
            </a:extLst>
          </p:cNvPr>
          <p:cNvSpPr/>
          <p:nvPr/>
        </p:nvSpPr>
        <p:spPr>
          <a:xfrm>
            <a:off x="10387584" y="2852928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299K</a:t>
            </a:r>
            <a:endParaRPr lang="en-US" sz="1600" dirty="0"/>
          </a:p>
        </p:txBody>
      </p:sp>
      <p:sp>
        <p:nvSpPr>
          <p:cNvPr id="405" name="Text 70">
            <a:extLst>
              <a:ext uri="{FF2B5EF4-FFF2-40B4-BE49-F238E27FC236}">
                <a16:creationId xmlns:a16="http://schemas.microsoft.com/office/drawing/2014/main" id="{EBFB0B13-7F6F-4A73-FDE1-D09C842A3AC3}"/>
              </a:ext>
            </a:extLst>
          </p:cNvPr>
          <p:cNvSpPr/>
          <p:nvPr/>
        </p:nvSpPr>
        <p:spPr>
          <a:xfrm>
            <a:off x="10387584" y="321868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900" dirty="0"/>
          </a:p>
        </p:txBody>
      </p:sp>
      <p:sp>
        <p:nvSpPr>
          <p:cNvPr id="407" name="Shape 71">
            <a:extLst>
              <a:ext uri="{FF2B5EF4-FFF2-40B4-BE49-F238E27FC236}">
                <a16:creationId xmlns:a16="http://schemas.microsoft.com/office/drawing/2014/main" id="{815E980C-8EA8-74CE-5170-5C743AEABA0F}"/>
              </a:ext>
            </a:extLst>
          </p:cNvPr>
          <p:cNvSpPr/>
          <p:nvPr/>
        </p:nvSpPr>
        <p:spPr>
          <a:xfrm>
            <a:off x="5989320" y="3639312"/>
            <a:ext cx="5897880" cy="34747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09" name="Text 72">
            <a:extLst>
              <a:ext uri="{FF2B5EF4-FFF2-40B4-BE49-F238E27FC236}">
                <a16:creationId xmlns:a16="http://schemas.microsoft.com/office/drawing/2014/main" id="{4932589B-24ED-7F91-2A98-6C03ADCE4443}"/>
              </a:ext>
            </a:extLst>
          </p:cNvPr>
          <p:cNvSpPr/>
          <p:nvPr/>
        </p:nvSpPr>
        <p:spPr>
          <a:xfrm>
            <a:off x="5989320" y="3639312"/>
            <a:ext cx="5897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DAX MEASURES CREATED</a:t>
            </a:r>
            <a:endParaRPr lang="en-US" sz="1100" dirty="0"/>
          </a:p>
        </p:txBody>
      </p:sp>
      <p:sp>
        <p:nvSpPr>
          <p:cNvPr id="411" name="Shape 73">
            <a:extLst>
              <a:ext uri="{FF2B5EF4-FFF2-40B4-BE49-F238E27FC236}">
                <a16:creationId xmlns:a16="http://schemas.microsoft.com/office/drawing/2014/main" id="{112EE7D9-A698-61FE-5893-56078CF2936D}"/>
              </a:ext>
            </a:extLst>
          </p:cNvPr>
          <p:cNvSpPr/>
          <p:nvPr/>
        </p:nvSpPr>
        <p:spPr>
          <a:xfrm>
            <a:off x="5989320" y="3986784"/>
            <a:ext cx="5897880" cy="320040"/>
          </a:xfrm>
          <a:prstGeom prst="rect">
            <a:avLst/>
          </a:prstGeom>
          <a:solidFill>
            <a:srgbClr val="D0D8EC"/>
          </a:solidFill>
          <a:ln/>
        </p:spPr>
      </p:sp>
      <p:sp>
        <p:nvSpPr>
          <p:cNvPr id="413" name="Text 74">
            <a:extLst>
              <a:ext uri="{FF2B5EF4-FFF2-40B4-BE49-F238E27FC236}">
                <a16:creationId xmlns:a16="http://schemas.microsoft.com/office/drawing/2014/main" id="{647E3D96-F228-CF4F-9AE5-B67E049A34A4}"/>
              </a:ext>
            </a:extLst>
          </p:cNvPr>
          <p:cNvSpPr/>
          <p:nvPr/>
        </p:nvSpPr>
        <p:spPr>
          <a:xfrm>
            <a:off x="6035040" y="398678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NAME</a:t>
            </a:r>
            <a:endParaRPr lang="en-US" sz="900" dirty="0"/>
          </a:p>
        </p:txBody>
      </p:sp>
      <p:sp>
        <p:nvSpPr>
          <p:cNvPr id="415" name="Text 75">
            <a:extLst>
              <a:ext uri="{FF2B5EF4-FFF2-40B4-BE49-F238E27FC236}">
                <a16:creationId xmlns:a16="http://schemas.microsoft.com/office/drawing/2014/main" id="{109DC0A6-0B7F-3C49-410F-8DE829B11C84}"/>
              </a:ext>
            </a:extLst>
          </p:cNvPr>
          <p:cNvSpPr/>
          <p:nvPr/>
        </p:nvSpPr>
        <p:spPr>
          <a:xfrm>
            <a:off x="7589520" y="39867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DAX FORMULA</a:t>
            </a:r>
            <a:endParaRPr lang="en-US" sz="900" dirty="0"/>
          </a:p>
        </p:txBody>
      </p:sp>
      <p:sp>
        <p:nvSpPr>
          <p:cNvPr id="417" name="Text 76">
            <a:extLst>
              <a:ext uri="{FF2B5EF4-FFF2-40B4-BE49-F238E27FC236}">
                <a16:creationId xmlns:a16="http://schemas.microsoft.com/office/drawing/2014/main" id="{191A0999-61F6-8004-0900-C01BF338B07A}"/>
              </a:ext>
            </a:extLst>
          </p:cNvPr>
          <p:cNvSpPr/>
          <p:nvPr/>
        </p:nvSpPr>
        <p:spPr>
          <a:xfrm>
            <a:off x="10424160" y="398678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419" name="Shape 77">
            <a:extLst>
              <a:ext uri="{FF2B5EF4-FFF2-40B4-BE49-F238E27FC236}">
                <a16:creationId xmlns:a16="http://schemas.microsoft.com/office/drawing/2014/main" id="{0CE0C370-F299-F19D-48F0-1182ABBA338D}"/>
              </a:ext>
            </a:extLst>
          </p:cNvPr>
          <p:cNvSpPr/>
          <p:nvPr/>
        </p:nvSpPr>
        <p:spPr>
          <a:xfrm>
            <a:off x="5989320" y="4306824"/>
            <a:ext cx="5897880" cy="576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1" name="Shape 78">
            <a:extLst>
              <a:ext uri="{FF2B5EF4-FFF2-40B4-BE49-F238E27FC236}">
                <a16:creationId xmlns:a16="http://schemas.microsoft.com/office/drawing/2014/main" id="{B036CA22-71DE-9385-3235-1DF34BC41AEB}"/>
              </a:ext>
            </a:extLst>
          </p:cNvPr>
          <p:cNvSpPr/>
          <p:nvPr/>
        </p:nvSpPr>
        <p:spPr>
          <a:xfrm>
            <a:off x="7589520" y="4306824"/>
            <a:ext cx="18288" cy="57607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23" name="Shape 79">
            <a:extLst>
              <a:ext uri="{FF2B5EF4-FFF2-40B4-BE49-F238E27FC236}">
                <a16:creationId xmlns:a16="http://schemas.microsoft.com/office/drawing/2014/main" id="{BD9080D9-C863-2651-E860-40767A4FF9D9}"/>
              </a:ext>
            </a:extLst>
          </p:cNvPr>
          <p:cNvSpPr/>
          <p:nvPr/>
        </p:nvSpPr>
        <p:spPr>
          <a:xfrm>
            <a:off x="10424160" y="4306824"/>
            <a:ext cx="18288" cy="57607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27" name="Text 81">
            <a:extLst>
              <a:ext uri="{FF2B5EF4-FFF2-40B4-BE49-F238E27FC236}">
                <a16:creationId xmlns:a16="http://schemas.microsoft.com/office/drawing/2014/main" id="{EE5CAAFD-8951-10CE-DFAD-309F81C15DBC}"/>
              </a:ext>
            </a:extLst>
          </p:cNvPr>
          <p:cNvSpPr/>
          <p:nvPr/>
        </p:nvSpPr>
        <p:spPr>
          <a:xfrm>
            <a:off x="6062472" y="4379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₹</a:t>
            </a:r>
            <a:endParaRPr lang="en-US" sz="1300" dirty="0"/>
          </a:p>
        </p:txBody>
      </p:sp>
      <p:sp>
        <p:nvSpPr>
          <p:cNvPr id="429" name="Text 82">
            <a:extLst>
              <a:ext uri="{FF2B5EF4-FFF2-40B4-BE49-F238E27FC236}">
                <a16:creationId xmlns:a16="http://schemas.microsoft.com/office/drawing/2014/main" id="{9246B6C1-39A6-0D2A-A513-AE2CCF571A4E}"/>
              </a:ext>
            </a:extLst>
          </p:cNvPr>
          <p:cNvSpPr/>
          <p:nvPr/>
        </p:nvSpPr>
        <p:spPr>
          <a:xfrm>
            <a:off x="6556248" y="439826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431" name="Text 83">
            <a:extLst>
              <a:ext uri="{FF2B5EF4-FFF2-40B4-BE49-F238E27FC236}">
                <a16:creationId xmlns:a16="http://schemas.microsoft.com/office/drawing/2014/main" id="{A31A9225-8B81-0F6A-6F8A-FA9CDF5FBCCA}"/>
              </a:ext>
            </a:extLst>
          </p:cNvPr>
          <p:cNvSpPr/>
          <p:nvPr/>
        </p:nvSpPr>
        <p:spPr>
          <a:xfrm>
            <a:off x="7653528" y="4352544"/>
            <a:ext cx="2724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Revenue =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SUM(‘Sheet1'[total_revenue])</a:t>
            </a:r>
            <a:endParaRPr lang="en-US" sz="850" dirty="0"/>
          </a:p>
        </p:txBody>
      </p:sp>
      <p:sp>
        <p:nvSpPr>
          <p:cNvPr id="433" name="Text 84">
            <a:extLst>
              <a:ext uri="{FF2B5EF4-FFF2-40B4-BE49-F238E27FC236}">
                <a16:creationId xmlns:a16="http://schemas.microsoft.com/office/drawing/2014/main" id="{35B7C374-8419-C14B-048B-2CE4FE39D786}"/>
              </a:ext>
            </a:extLst>
          </p:cNvPr>
          <p:cNvSpPr/>
          <p:nvPr/>
        </p:nvSpPr>
        <p:spPr>
          <a:xfrm>
            <a:off x="10469880" y="4352544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total revenue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generated.</a:t>
            </a:r>
            <a:endParaRPr lang="en-US" sz="850" dirty="0"/>
          </a:p>
        </p:txBody>
      </p:sp>
      <p:sp>
        <p:nvSpPr>
          <p:cNvPr id="435" name="Shape 85">
            <a:extLst>
              <a:ext uri="{FF2B5EF4-FFF2-40B4-BE49-F238E27FC236}">
                <a16:creationId xmlns:a16="http://schemas.microsoft.com/office/drawing/2014/main" id="{CC24A429-BB93-29DF-D2EA-4E9A89E517D3}"/>
              </a:ext>
            </a:extLst>
          </p:cNvPr>
          <p:cNvSpPr/>
          <p:nvPr/>
        </p:nvSpPr>
        <p:spPr>
          <a:xfrm>
            <a:off x="5989320" y="4901184"/>
            <a:ext cx="5897880" cy="576072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437" name="Shape 86">
            <a:extLst>
              <a:ext uri="{FF2B5EF4-FFF2-40B4-BE49-F238E27FC236}">
                <a16:creationId xmlns:a16="http://schemas.microsoft.com/office/drawing/2014/main" id="{8E04413F-C70A-A6AA-4F84-5603430C9288}"/>
              </a:ext>
            </a:extLst>
          </p:cNvPr>
          <p:cNvSpPr/>
          <p:nvPr/>
        </p:nvSpPr>
        <p:spPr>
          <a:xfrm>
            <a:off x="7589520" y="4901184"/>
            <a:ext cx="18288" cy="57607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39" name="Shape 87">
            <a:extLst>
              <a:ext uri="{FF2B5EF4-FFF2-40B4-BE49-F238E27FC236}">
                <a16:creationId xmlns:a16="http://schemas.microsoft.com/office/drawing/2014/main" id="{4F1766A3-DBE4-6E51-2CDF-8F18B45CE67B}"/>
              </a:ext>
            </a:extLst>
          </p:cNvPr>
          <p:cNvSpPr/>
          <p:nvPr/>
        </p:nvSpPr>
        <p:spPr>
          <a:xfrm>
            <a:off x="10424160" y="4901184"/>
            <a:ext cx="18288" cy="57607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43" name="Text 89">
            <a:extLst>
              <a:ext uri="{FF2B5EF4-FFF2-40B4-BE49-F238E27FC236}">
                <a16:creationId xmlns:a16="http://schemas.microsoft.com/office/drawing/2014/main" id="{6C19C364-4C56-8D2C-F618-884D1715EFA1}"/>
              </a:ext>
            </a:extLst>
          </p:cNvPr>
          <p:cNvSpPr/>
          <p:nvPr/>
        </p:nvSpPr>
        <p:spPr>
          <a:xfrm>
            <a:off x="6062472" y="4974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🛒</a:t>
            </a:r>
            <a:endParaRPr lang="en-US" sz="1300" dirty="0"/>
          </a:p>
        </p:txBody>
      </p:sp>
      <p:sp>
        <p:nvSpPr>
          <p:cNvPr id="445" name="Text 90">
            <a:extLst>
              <a:ext uri="{FF2B5EF4-FFF2-40B4-BE49-F238E27FC236}">
                <a16:creationId xmlns:a16="http://schemas.microsoft.com/office/drawing/2014/main" id="{6C583645-1CE9-6DB5-761F-BA9AEBCEFBF6}"/>
              </a:ext>
            </a:extLst>
          </p:cNvPr>
          <p:cNvSpPr/>
          <p:nvPr/>
        </p:nvSpPr>
        <p:spPr>
          <a:xfrm>
            <a:off x="6556248" y="499262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950" dirty="0"/>
          </a:p>
        </p:txBody>
      </p:sp>
      <p:sp>
        <p:nvSpPr>
          <p:cNvPr id="447" name="Text 91">
            <a:extLst>
              <a:ext uri="{FF2B5EF4-FFF2-40B4-BE49-F238E27FC236}">
                <a16:creationId xmlns:a16="http://schemas.microsoft.com/office/drawing/2014/main" id="{161F42E4-7560-066C-87D6-1D9049004721}"/>
              </a:ext>
            </a:extLst>
          </p:cNvPr>
          <p:cNvSpPr/>
          <p:nvPr/>
        </p:nvSpPr>
        <p:spPr>
          <a:xfrm>
            <a:off x="7653528" y="4946904"/>
            <a:ext cx="2724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Transactions =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DISTINCTCOUNT(‘Sheet1'[invoice_no])</a:t>
            </a:r>
            <a:endParaRPr lang="en-US" sz="850" dirty="0"/>
          </a:p>
        </p:txBody>
      </p:sp>
      <p:sp>
        <p:nvSpPr>
          <p:cNvPr id="449" name="Text 92">
            <a:extLst>
              <a:ext uri="{FF2B5EF4-FFF2-40B4-BE49-F238E27FC236}">
                <a16:creationId xmlns:a16="http://schemas.microsoft.com/office/drawing/2014/main" id="{A4EBFADE-9C48-DFE8-B609-AED2048B3412}"/>
              </a:ext>
            </a:extLst>
          </p:cNvPr>
          <p:cNvSpPr/>
          <p:nvPr/>
        </p:nvSpPr>
        <p:spPr>
          <a:xfrm>
            <a:off x="10469880" y="4946904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the total number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transactions.</a:t>
            </a:r>
            <a:endParaRPr lang="en-US" sz="850" dirty="0"/>
          </a:p>
        </p:txBody>
      </p:sp>
      <p:sp>
        <p:nvSpPr>
          <p:cNvPr id="451" name="Shape 93">
            <a:extLst>
              <a:ext uri="{FF2B5EF4-FFF2-40B4-BE49-F238E27FC236}">
                <a16:creationId xmlns:a16="http://schemas.microsoft.com/office/drawing/2014/main" id="{C5FA39FD-D82C-3593-1575-9DA5B10233FA}"/>
              </a:ext>
            </a:extLst>
          </p:cNvPr>
          <p:cNvSpPr/>
          <p:nvPr/>
        </p:nvSpPr>
        <p:spPr>
          <a:xfrm>
            <a:off x="5989320" y="5495544"/>
            <a:ext cx="5897880" cy="576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3" name="Shape 94">
            <a:extLst>
              <a:ext uri="{FF2B5EF4-FFF2-40B4-BE49-F238E27FC236}">
                <a16:creationId xmlns:a16="http://schemas.microsoft.com/office/drawing/2014/main" id="{74749B56-6C0A-1670-F383-1D7D5EB9C5AC}"/>
              </a:ext>
            </a:extLst>
          </p:cNvPr>
          <p:cNvSpPr/>
          <p:nvPr/>
        </p:nvSpPr>
        <p:spPr>
          <a:xfrm>
            <a:off x="7589520" y="5495544"/>
            <a:ext cx="18288" cy="57607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55" name="Shape 95">
            <a:extLst>
              <a:ext uri="{FF2B5EF4-FFF2-40B4-BE49-F238E27FC236}">
                <a16:creationId xmlns:a16="http://schemas.microsoft.com/office/drawing/2014/main" id="{126EA4D0-47B9-DDC2-E1D0-BA55BDC831C1}"/>
              </a:ext>
            </a:extLst>
          </p:cNvPr>
          <p:cNvSpPr/>
          <p:nvPr/>
        </p:nvSpPr>
        <p:spPr>
          <a:xfrm>
            <a:off x="10424160" y="5495544"/>
            <a:ext cx="18288" cy="57607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59" name="Text 97">
            <a:extLst>
              <a:ext uri="{FF2B5EF4-FFF2-40B4-BE49-F238E27FC236}">
                <a16:creationId xmlns:a16="http://schemas.microsoft.com/office/drawing/2014/main" id="{05D3013B-3FA6-E1C4-2206-881B764A1005}"/>
              </a:ext>
            </a:extLst>
          </p:cNvPr>
          <p:cNvSpPr/>
          <p:nvPr/>
        </p:nvSpPr>
        <p:spPr>
          <a:xfrm>
            <a:off x="6062472" y="5568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📊</a:t>
            </a:r>
            <a:endParaRPr lang="en-US" sz="1300" dirty="0"/>
          </a:p>
        </p:txBody>
      </p:sp>
      <p:sp>
        <p:nvSpPr>
          <p:cNvPr id="461" name="Text 98">
            <a:extLst>
              <a:ext uri="{FF2B5EF4-FFF2-40B4-BE49-F238E27FC236}">
                <a16:creationId xmlns:a16="http://schemas.microsoft.com/office/drawing/2014/main" id="{3CA742A6-37FB-BE54-4553-FA29FBC8DCFD}"/>
              </a:ext>
            </a:extLst>
          </p:cNvPr>
          <p:cNvSpPr/>
          <p:nvPr/>
        </p:nvSpPr>
        <p:spPr>
          <a:xfrm>
            <a:off x="6556248" y="55869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950" dirty="0"/>
          </a:p>
        </p:txBody>
      </p:sp>
      <p:sp>
        <p:nvSpPr>
          <p:cNvPr id="463" name="Text 99">
            <a:extLst>
              <a:ext uri="{FF2B5EF4-FFF2-40B4-BE49-F238E27FC236}">
                <a16:creationId xmlns:a16="http://schemas.microsoft.com/office/drawing/2014/main" id="{E09D07FA-333B-7AC7-1611-2B95406D7722}"/>
              </a:ext>
            </a:extLst>
          </p:cNvPr>
          <p:cNvSpPr/>
          <p:nvPr/>
        </p:nvSpPr>
        <p:spPr>
          <a:xfrm>
            <a:off x="7653528" y="5541264"/>
            <a:ext cx="2724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Order Value =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DIVIDE([Total Revenue], [Total Transactions])</a:t>
            </a:r>
            <a:endParaRPr lang="en-US" sz="850" dirty="0"/>
          </a:p>
        </p:txBody>
      </p:sp>
      <p:sp>
        <p:nvSpPr>
          <p:cNvPr id="465" name="Text 100">
            <a:extLst>
              <a:ext uri="{FF2B5EF4-FFF2-40B4-BE49-F238E27FC236}">
                <a16:creationId xmlns:a16="http://schemas.microsoft.com/office/drawing/2014/main" id="{0D439B49-4D44-ED16-A1CC-E88C27B80602}"/>
              </a:ext>
            </a:extLst>
          </p:cNvPr>
          <p:cNvSpPr/>
          <p:nvPr/>
        </p:nvSpPr>
        <p:spPr>
          <a:xfrm>
            <a:off x="10469880" y="5541264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average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transaction.</a:t>
            </a:r>
            <a:endParaRPr lang="en-US" sz="850" dirty="0"/>
          </a:p>
        </p:txBody>
      </p:sp>
      <p:sp>
        <p:nvSpPr>
          <p:cNvPr id="467" name="Shape 101">
            <a:extLst>
              <a:ext uri="{FF2B5EF4-FFF2-40B4-BE49-F238E27FC236}">
                <a16:creationId xmlns:a16="http://schemas.microsoft.com/office/drawing/2014/main" id="{C4D34C56-2247-6DE8-D2D3-03313D8CDE83}"/>
              </a:ext>
            </a:extLst>
          </p:cNvPr>
          <p:cNvSpPr/>
          <p:nvPr/>
        </p:nvSpPr>
        <p:spPr>
          <a:xfrm>
            <a:off x="5989320" y="6089904"/>
            <a:ext cx="5897880" cy="576072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469" name="Shape 102">
            <a:extLst>
              <a:ext uri="{FF2B5EF4-FFF2-40B4-BE49-F238E27FC236}">
                <a16:creationId xmlns:a16="http://schemas.microsoft.com/office/drawing/2014/main" id="{6E157AD9-B5B4-FE1A-A9C3-4A774C6D63EA}"/>
              </a:ext>
            </a:extLst>
          </p:cNvPr>
          <p:cNvSpPr/>
          <p:nvPr/>
        </p:nvSpPr>
        <p:spPr>
          <a:xfrm>
            <a:off x="7589520" y="6089904"/>
            <a:ext cx="18288" cy="57607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71" name="Shape 103">
            <a:extLst>
              <a:ext uri="{FF2B5EF4-FFF2-40B4-BE49-F238E27FC236}">
                <a16:creationId xmlns:a16="http://schemas.microsoft.com/office/drawing/2014/main" id="{02AD91B3-F289-C933-7D6F-E231E3FEA74E}"/>
              </a:ext>
            </a:extLst>
          </p:cNvPr>
          <p:cNvSpPr/>
          <p:nvPr/>
        </p:nvSpPr>
        <p:spPr>
          <a:xfrm>
            <a:off x="10424160" y="6089904"/>
            <a:ext cx="18288" cy="57607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75" name="Text 105">
            <a:extLst>
              <a:ext uri="{FF2B5EF4-FFF2-40B4-BE49-F238E27FC236}">
                <a16:creationId xmlns:a16="http://schemas.microsoft.com/office/drawing/2014/main" id="{24B72BD1-A56B-BF8D-6748-1457BA957FCB}"/>
              </a:ext>
            </a:extLst>
          </p:cNvPr>
          <p:cNvSpPr/>
          <p:nvPr/>
        </p:nvSpPr>
        <p:spPr>
          <a:xfrm>
            <a:off x="6062472" y="6163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📦</a:t>
            </a:r>
            <a:endParaRPr lang="en-US" sz="1300" dirty="0"/>
          </a:p>
        </p:txBody>
      </p:sp>
      <p:sp>
        <p:nvSpPr>
          <p:cNvPr id="477" name="Text 106">
            <a:extLst>
              <a:ext uri="{FF2B5EF4-FFF2-40B4-BE49-F238E27FC236}">
                <a16:creationId xmlns:a16="http://schemas.microsoft.com/office/drawing/2014/main" id="{C3DFDE42-8484-5A25-8056-F1230882DE81}"/>
              </a:ext>
            </a:extLst>
          </p:cNvPr>
          <p:cNvSpPr/>
          <p:nvPr/>
        </p:nvSpPr>
        <p:spPr>
          <a:xfrm>
            <a:off x="6556248" y="618134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950" dirty="0"/>
          </a:p>
        </p:txBody>
      </p:sp>
      <p:sp>
        <p:nvSpPr>
          <p:cNvPr id="479" name="Text 107">
            <a:extLst>
              <a:ext uri="{FF2B5EF4-FFF2-40B4-BE49-F238E27FC236}">
                <a16:creationId xmlns:a16="http://schemas.microsoft.com/office/drawing/2014/main" id="{540167E2-3FE1-0D7D-A2A0-36D079122859}"/>
              </a:ext>
            </a:extLst>
          </p:cNvPr>
          <p:cNvSpPr/>
          <p:nvPr/>
        </p:nvSpPr>
        <p:spPr>
          <a:xfrm>
            <a:off x="7653528" y="6135624"/>
            <a:ext cx="2724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Units Sold =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SUM(‘Sheet1'[quantity])</a:t>
            </a:r>
            <a:endParaRPr lang="en-US" sz="850" dirty="0"/>
          </a:p>
        </p:txBody>
      </p:sp>
      <p:sp>
        <p:nvSpPr>
          <p:cNvPr id="481" name="Text 108">
            <a:extLst>
              <a:ext uri="{FF2B5EF4-FFF2-40B4-BE49-F238E27FC236}">
                <a16:creationId xmlns:a16="http://schemas.microsoft.com/office/drawing/2014/main" id="{B037142C-C46E-8F8E-13D2-4147F8CE3A55}"/>
              </a:ext>
            </a:extLst>
          </p:cNvPr>
          <p:cNvSpPr/>
          <p:nvPr/>
        </p:nvSpPr>
        <p:spPr>
          <a:xfrm>
            <a:off x="10469880" y="6135624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total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of products sold.</a:t>
            </a:r>
            <a:endParaRPr lang="en-US" sz="850" dirty="0"/>
          </a:p>
        </p:txBody>
      </p:sp>
      <p:sp>
        <p:nvSpPr>
          <p:cNvPr id="483" name="Shape 109">
            <a:extLst>
              <a:ext uri="{FF2B5EF4-FFF2-40B4-BE49-F238E27FC236}">
                <a16:creationId xmlns:a16="http://schemas.microsoft.com/office/drawing/2014/main" id="{B46823EB-72AE-F636-4030-CD8E226D4983}"/>
              </a:ext>
            </a:extLst>
          </p:cNvPr>
          <p:cNvSpPr/>
          <p:nvPr/>
        </p:nvSpPr>
        <p:spPr>
          <a:xfrm>
            <a:off x="5989320" y="6684264"/>
            <a:ext cx="589788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85" name="Shape 110">
            <a:extLst>
              <a:ext uri="{FF2B5EF4-FFF2-40B4-BE49-F238E27FC236}">
                <a16:creationId xmlns:a16="http://schemas.microsoft.com/office/drawing/2014/main" id="{C3E43AD7-E5E5-849E-06DB-F9C3186E5A77}"/>
              </a:ext>
            </a:extLst>
          </p:cNvPr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87" name="Text 111">
            <a:extLst>
              <a:ext uri="{FF2B5EF4-FFF2-40B4-BE49-F238E27FC236}">
                <a16:creationId xmlns:a16="http://schemas.microsoft.com/office/drawing/2014/main" id="{26F19660-112B-E2BA-7AF7-05ED55F9E78B}"/>
              </a:ext>
            </a:extLst>
          </p:cNvPr>
          <p:cNvSpPr/>
          <p:nvPr/>
        </p:nvSpPr>
        <p:spPr>
          <a:xfrm>
            <a:off x="274320" y="660196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🛒  Customer Shopping Behavior Analysis</a:t>
            </a:r>
            <a:endParaRPr lang="en-US" sz="950" dirty="0"/>
          </a:p>
        </p:txBody>
      </p:sp>
      <p:sp>
        <p:nvSpPr>
          <p:cNvPr id="489" name="Text 112">
            <a:extLst>
              <a:ext uri="{FF2B5EF4-FFF2-40B4-BE49-F238E27FC236}">
                <a16:creationId xmlns:a16="http://schemas.microsoft.com/office/drawing/2014/main" id="{72F361DF-4FAC-7A7E-A1DA-CAA3DD0FC4FA}"/>
              </a:ext>
            </a:extLst>
          </p:cNvPr>
          <p:cNvSpPr/>
          <p:nvPr/>
        </p:nvSpPr>
        <p:spPr>
          <a:xfrm>
            <a:off x="11795760" y="660196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SHOPPING DISTRIBUTION BY GENDER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1612880" cy="557784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q1.png"/>
          <p:cNvPicPr>
            <a:picLocks noChangeAspect="1"/>
          </p:cNvPicPr>
          <p:nvPr/>
        </p:nvPicPr>
        <p:blipFill>
          <a:blip r:embed="rId3"/>
          <a:srcRect l="531"/>
          <a:stretch>
            <a:fillRect/>
          </a:stretch>
        </p:blipFill>
        <p:spPr>
          <a:xfrm>
            <a:off x="365760" y="868680"/>
            <a:ext cx="11430000" cy="548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PRODUCTS SOLD BY GENDER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1612880" cy="557784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q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868680"/>
            <a:ext cx="11430000" cy="548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REVENUE GENERATED BY GENDER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1612880" cy="557784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q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868680"/>
            <a:ext cx="11430000" cy="548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REVENUE BY CATEGORY AND GENDER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1612880" cy="557784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q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868680"/>
            <a:ext cx="11430000" cy="548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Q5. SHOPPING DISTRIBUTION BY AGE GROUP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1612880" cy="557784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q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868680"/>
            <a:ext cx="11430000" cy="548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Q6. PRODUCTS SOLD BY AGE GROUP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1612880" cy="557784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q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868680"/>
            <a:ext cx="11430000" cy="548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Q7. REVENUE BY AGE GROUP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1612880" cy="557784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q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868680"/>
            <a:ext cx="11430000" cy="548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Q8. CATEGORY DISTRIBUTION BY AGE GROUP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1612880" cy="557784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q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868680"/>
            <a:ext cx="11430000" cy="548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Q9. PAYMENT METHOD RELATIONSHIP ANALYSIS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1612880" cy="557784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q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868680"/>
            <a:ext cx="11430000" cy="548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Q10. PAYMENT METHOD DISTRIBUTION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1612880" cy="557784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q1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868680"/>
            <a:ext cx="11430000" cy="548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DASHBOARD</a:t>
            </a:r>
            <a:endParaRPr lang="en-US" sz="2600" dirty="0"/>
          </a:p>
        </p:txBody>
      </p:sp>
      <p:pic>
        <p:nvPicPr>
          <p:cNvPr id="4" name="Image 0" descr="/home/claude/dashboar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7772400" cy="4503906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229600" y="914400"/>
            <a:ext cx="3657600" cy="5303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0" y="914400"/>
            <a:ext cx="3657600" cy="502920"/>
          </a:xfrm>
          <a:prstGeom prst="rect">
            <a:avLst/>
          </a:prstGeom>
          <a:solidFill>
            <a:srgbClr val="2E4A8F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0" y="914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HIGHLIGHTS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366760" y="1600200"/>
            <a:ext cx="3383280" cy="658368"/>
          </a:xfrm>
          <a:prstGeom prst="roundRect">
            <a:avLst>
              <a:gd name="adj" fmla="val 9722"/>
            </a:avLst>
          </a:prstGeom>
          <a:solidFill>
            <a:srgbClr val="F4F6FB"/>
          </a:solidFill>
          <a:ln/>
        </p:spPr>
      </p:sp>
      <p:sp>
        <p:nvSpPr>
          <p:cNvPr id="9" name="Text 6"/>
          <p:cNvSpPr/>
          <p:nvPr/>
        </p:nvSpPr>
        <p:spPr>
          <a:xfrm>
            <a:off x="8458200" y="1645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Gender Trends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366760" y="2423160"/>
            <a:ext cx="3383280" cy="658368"/>
          </a:xfrm>
          <a:prstGeom prst="roundRect">
            <a:avLst>
              <a:gd name="adj" fmla="val 9722"/>
            </a:avLst>
          </a:prstGeom>
          <a:solidFill>
            <a:srgbClr val="F4F6FB"/>
          </a:solidFill>
          <a:ln/>
        </p:spPr>
      </p:sp>
      <p:sp>
        <p:nvSpPr>
          <p:cNvPr id="11" name="Text 8"/>
          <p:cNvSpPr/>
          <p:nvPr/>
        </p:nvSpPr>
        <p:spPr>
          <a:xfrm>
            <a:off x="8458200" y="2468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Revenue Analysis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366760" y="3246120"/>
            <a:ext cx="3383280" cy="658368"/>
          </a:xfrm>
          <a:prstGeom prst="roundRect">
            <a:avLst>
              <a:gd name="adj" fmla="val 9722"/>
            </a:avLst>
          </a:prstGeom>
          <a:solidFill>
            <a:srgbClr val="F4F6FB"/>
          </a:solidFill>
          <a:ln/>
        </p:spPr>
      </p:sp>
      <p:sp>
        <p:nvSpPr>
          <p:cNvPr id="13" name="Text 10"/>
          <p:cNvSpPr/>
          <p:nvPr/>
        </p:nvSpPr>
        <p:spPr>
          <a:xfrm>
            <a:off x="8458200" y="3291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🛍️ Category Performance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366760" y="4069080"/>
            <a:ext cx="3383280" cy="658368"/>
          </a:xfrm>
          <a:prstGeom prst="roundRect">
            <a:avLst>
              <a:gd name="adj" fmla="val 9722"/>
            </a:avLst>
          </a:prstGeom>
          <a:solidFill>
            <a:srgbClr val="F4F6FB"/>
          </a:solidFill>
          <a:ln/>
        </p:spPr>
      </p:sp>
      <p:sp>
        <p:nvSpPr>
          <p:cNvPr id="15" name="Text 12"/>
          <p:cNvSpPr/>
          <p:nvPr/>
        </p:nvSpPr>
        <p:spPr>
          <a:xfrm>
            <a:off x="8458200" y="4114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Age Group Analysis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366760" y="4892040"/>
            <a:ext cx="3383280" cy="658368"/>
          </a:xfrm>
          <a:prstGeom prst="roundRect">
            <a:avLst>
              <a:gd name="adj" fmla="val 9722"/>
            </a:avLst>
          </a:prstGeom>
          <a:solidFill>
            <a:srgbClr val="F4F6FB"/>
          </a:solidFill>
          <a:ln/>
        </p:spPr>
      </p:sp>
      <p:sp>
        <p:nvSpPr>
          <p:cNvPr id="17" name="Text 14"/>
          <p:cNvSpPr/>
          <p:nvPr/>
        </p:nvSpPr>
        <p:spPr>
          <a:xfrm>
            <a:off x="8458200" y="49377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Payment Preferences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B9D43823-B895-D069-6F8F-04894D980D02}"/>
              </a:ext>
            </a:extLst>
          </p:cNvPr>
          <p:cNvSpPr/>
          <p:nvPr/>
        </p:nvSpPr>
        <p:spPr>
          <a:xfrm>
            <a:off x="304800" y="5596322"/>
            <a:ext cx="7741919" cy="621598"/>
          </a:xfrm>
          <a:prstGeom prst="roundRect">
            <a:avLst>
              <a:gd name="adj" fmla="val 1082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provides a consolidated view of customer behavior, revenue performance, and payment preferences across all demographics.</a:t>
            </a:r>
            <a:endParaRPr lang="en-US" sz="1600" dirty="0"/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FINDINGS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5349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109728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1097280"/>
            <a:ext cx="1371600" cy="1371600"/>
          </a:xfrm>
          <a:prstGeom prst="ellipse">
            <a:avLst/>
          </a:prstGeom>
          <a:solidFill>
            <a:srgbClr val="FCE4EC"/>
          </a:solidFill>
          <a:ln/>
        </p:spPr>
      </p:sp>
      <p:pic>
        <p:nvPicPr>
          <p:cNvPr id="7" name="Image 0" descr="/home/claude/icon_fem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234440"/>
            <a:ext cx="109728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26060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59.81%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27432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Transactions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097280" y="3520440"/>
            <a:ext cx="1097280" cy="36576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36393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 Customers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11480" y="411480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customers drive the majority of sales, contributing ₹150M in revenue — significantly more than male customers.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0" y="914400"/>
            <a:ext cx="2743200" cy="5349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914400"/>
            <a:ext cx="2743200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Shape 12"/>
          <p:cNvSpPr/>
          <p:nvPr/>
        </p:nvSpPr>
        <p:spPr>
          <a:xfrm>
            <a:off x="3886200" y="1097280"/>
            <a:ext cx="1371600" cy="1371600"/>
          </a:xfrm>
          <a:prstGeom prst="ellipse">
            <a:avLst/>
          </a:prstGeom>
          <a:solidFill>
            <a:srgbClr val="FFF8E1"/>
          </a:solidFill>
          <a:ln/>
        </p:spPr>
      </p:sp>
      <p:pic>
        <p:nvPicPr>
          <p:cNvPr id="16" name="Image 1" descr="/home/claude/icon_el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1234440"/>
            <a:ext cx="1097280" cy="10972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00400" y="26060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₹67.1M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320040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023360" y="3520440"/>
            <a:ext cx="109728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6"/>
          <p:cNvSpPr/>
          <p:nvPr/>
        </p:nvSpPr>
        <p:spPr>
          <a:xfrm>
            <a:off x="3200400" y="36393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56+ Age Group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3337560" y="411480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56+ segment leads in both revenue and purchase volume (80K units), far outperforming all other age groups.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126480" y="914400"/>
            <a:ext cx="2743200" cy="5349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26480" y="914400"/>
            <a:ext cx="2743200" cy="1097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4" name="Shape 20"/>
          <p:cNvSpPr/>
          <p:nvPr/>
        </p:nvSpPr>
        <p:spPr>
          <a:xfrm>
            <a:off x="6812280" y="1097280"/>
            <a:ext cx="1371600" cy="1371600"/>
          </a:xfrm>
          <a:prstGeom prst="ellipse">
            <a:avLst/>
          </a:prstGeom>
          <a:solidFill>
            <a:srgbClr val="E3F2FD"/>
          </a:solidFill>
          <a:ln/>
        </p:spPr>
      </p:sp>
      <p:pic>
        <p:nvPicPr>
          <p:cNvPr id="25" name="Image 2" descr="/home/claude/icon_cloth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1234440"/>
            <a:ext cx="1097280" cy="10972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126480" y="26060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2600" dirty="0"/>
          </a:p>
        </p:txBody>
      </p:sp>
      <p:sp>
        <p:nvSpPr>
          <p:cNvPr id="27" name="Text 22"/>
          <p:cNvSpPr/>
          <p:nvPr/>
        </p:nvSpPr>
        <p:spPr>
          <a:xfrm>
            <a:off x="612648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949440" y="3520440"/>
            <a:ext cx="109728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9" name="Text 24"/>
          <p:cNvSpPr/>
          <p:nvPr/>
        </p:nvSpPr>
        <p:spPr>
          <a:xfrm>
            <a:off x="6126480" y="36393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Clothing Category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6263640" y="411480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IN" sz="1100" dirty="0"/>
              <a:t>Clothing is the highest revenue-generating product category for both female and male customers.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9052560" y="914400"/>
            <a:ext cx="2743200" cy="5349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9052560" y="914400"/>
            <a:ext cx="2743200" cy="1097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3" name="Shape 28"/>
          <p:cNvSpPr/>
          <p:nvPr/>
        </p:nvSpPr>
        <p:spPr>
          <a:xfrm>
            <a:off x="9738360" y="1097280"/>
            <a:ext cx="1371600" cy="137160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34" name="Image 3" descr="/home/claude/icon_ca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0" y="1234440"/>
            <a:ext cx="1097280" cy="109728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052560" y="26060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44.69%</a:t>
            </a:r>
            <a:endParaRPr lang="en-US" sz="2600" dirty="0"/>
          </a:p>
        </p:txBody>
      </p:sp>
      <p:sp>
        <p:nvSpPr>
          <p:cNvPr id="36" name="Text 30"/>
          <p:cNvSpPr/>
          <p:nvPr/>
        </p:nvSpPr>
        <p:spPr>
          <a:xfrm>
            <a:off x="905256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Transactions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9875520" y="3520440"/>
            <a:ext cx="109728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8" name="Text 32"/>
          <p:cNvSpPr/>
          <p:nvPr/>
        </p:nvSpPr>
        <p:spPr>
          <a:xfrm>
            <a:off x="9052560" y="36393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Payments</a:t>
            </a:r>
            <a:endParaRPr lang="en-US" sz="1400" dirty="0"/>
          </a:p>
        </p:txBody>
      </p:sp>
      <p:sp>
        <p:nvSpPr>
          <p:cNvPr id="39" name="Text 33"/>
          <p:cNvSpPr/>
          <p:nvPr/>
        </p:nvSpPr>
        <p:spPr>
          <a:xfrm>
            <a:off x="9189720" y="411480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is the most preferred payment method consistently across all categories, genders, and age groups.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5577840" cy="24688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63040"/>
            <a:ext cx="1371600" cy="1371600"/>
          </a:xfrm>
          <a:prstGeom prst="ellipse">
            <a:avLst/>
          </a:prstGeom>
          <a:solidFill>
            <a:srgbClr val="FFF8E1"/>
          </a:solidFill>
          <a:ln/>
        </p:spPr>
      </p:sp>
      <p:pic>
        <p:nvPicPr>
          <p:cNvPr id="6" name="Image 0" descr="/home/claude/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Senior Customers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057400" y="1673352"/>
            <a:ext cx="109728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6"/>
          <p:cNvSpPr/>
          <p:nvPr/>
        </p:nvSpPr>
        <p:spPr>
          <a:xfrm>
            <a:off x="2057400" y="1801368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loyalty programs and exclusive senior-specific promotions to leverage the 56+ segment's outstanding purchasing power and revenue contribution.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26480" y="960120"/>
            <a:ext cx="5577840" cy="24688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09360" y="1463040"/>
            <a:ext cx="1371600" cy="1371600"/>
          </a:xfrm>
          <a:prstGeom prst="ellipse">
            <a:avLst/>
          </a:prstGeom>
          <a:solidFill>
            <a:srgbClr val="E3F2FD"/>
          </a:solidFill>
          <a:ln/>
        </p:spPr>
      </p:sp>
      <p:pic>
        <p:nvPicPr>
          <p:cNvPr id="12" name="Image 1" descr="/home/claude/icon_b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600200"/>
            <a:ext cx="1097280" cy="10972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86384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Clothing Focus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863840" y="1673352"/>
            <a:ext cx="1097280" cy="45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5" name="Text 11"/>
          <p:cNvSpPr/>
          <p:nvPr/>
        </p:nvSpPr>
        <p:spPr>
          <a:xfrm>
            <a:off x="7863840" y="1801368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clothing inventory and introduce seasonal collections to capitalize on the top-performing product category across both genders.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20040" y="3657600"/>
            <a:ext cx="5577840" cy="24688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02920" y="4160520"/>
            <a:ext cx="1371600" cy="1371600"/>
          </a:xfrm>
          <a:prstGeom prst="ellipse">
            <a:avLst/>
          </a:prstGeom>
          <a:solidFill>
            <a:srgbClr val="FCE4EC"/>
          </a:solidFill>
          <a:ln/>
        </p:spPr>
      </p:sp>
      <p:pic>
        <p:nvPicPr>
          <p:cNvPr id="18" name="Image 2" descr="/home/claude/icon_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297680"/>
            <a:ext cx="1097280" cy="10972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057400" y="3886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Encourage Digital Payment Adoption</a:t>
            </a:r>
            <a:endParaRPr 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2057400" y="4370832"/>
            <a:ext cx="1097280" cy="4572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21" name="Text 16"/>
          <p:cNvSpPr/>
          <p:nvPr/>
        </p:nvSpPr>
        <p:spPr>
          <a:xfrm>
            <a:off x="2057400" y="4498848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incentives, cashback offers, and seamless UPI integration to encourage adoption of digital payment methods beyond cash.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126480" y="3657600"/>
            <a:ext cx="5577840" cy="24688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309360" y="4160520"/>
            <a:ext cx="1371600" cy="137160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24" name="Image 3" descr="/home/claude/icon_mai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4297680"/>
            <a:ext cx="1097280" cy="10972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863840" y="3886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Marketing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7863840" y="4370832"/>
            <a:ext cx="1097280" cy="45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7" name="Text 21"/>
          <p:cNvSpPr/>
          <p:nvPr/>
        </p:nvSpPr>
        <p:spPr>
          <a:xfrm>
            <a:off x="7863840" y="4498848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demographic segmentation by gender, age group, and product preference to deliver highly targeted campaigns that drive repeat purchases.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1521440" cy="54864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11521440" cy="73152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reveals clear patterns in customer purchasing behavior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777240" cy="777240"/>
          </a:xfrm>
          <a:prstGeom prst="ellipse">
            <a:avLst/>
          </a:prstGeom>
          <a:solidFill>
            <a:srgbClr val="FCE4EC"/>
          </a:solidFill>
          <a:ln/>
        </p:spPr>
      </p:sp>
      <p:pic>
        <p:nvPicPr>
          <p:cNvPr id="8" name="Image 0" descr="/home/claude/icon_per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892808"/>
            <a:ext cx="640080" cy="640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463040" y="196596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14630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057400" y="185623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 Customers Lead Sales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057400" y="221284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100" dirty="0">
                <a:solidFill>
                  <a:schemeClr val="bg2">
                    <a:lumMod val="50000"/>
                  </a:schemeClr>
                </a:solidFill>
              </a:rPr>
              <a:t>Focusing on senior customers, expanding clothing products, and encouraging digital payments can improve customer engagement and business growth.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48640" y="2907792"/>
            <a:ext cx="777240" cy="777240"/>
          </a:xfrm>
          <a:prstGeom prst="ellipse">
            <a:avLst/>
          </a:prstGeom>
          <a:solidFill>
            <a:srgbClr val="FFF8E1"/>
          </a:solidFill>
          <a:ln/>
        </p:spPr>
      </p:sp>
      <p:pic>
        <p:nvPicPr>
          <p:cNvPr id="14" name="Image 1" descr="/home/claude/icon_el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2971800"/>
            <a:ext cx="640080" cy="6400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463040" y="3044952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2"/>
          <p:cNvSpPr/>
          <p:nvPr/>
        </p:nvSpPr>
        <p:spPr>
          <a:xfrm>
            <a:off x="146304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057400" y="2935224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Segment Dominates Revenue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057400" y="3291840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56+ age </a:t>
            </a:r>
            <a:r>
              <a:rPr lang="en-US" sz="11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generates ₹67.1M in revenue and buys 80K units — the highest of any age segment — indicating stronger purchasing power with age.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86784"/>
            <a:ext cx="777240" cy="777240"/>
          </a:xfrm>
          <a:prstGeom prst="ellipse">
            <a:avLst/>
          </a:prstGeom>
          <a:solidFill>
            <a:srgbClr val="E3F2FD"/>
          </a:solidFill>
          <a:ln/>
        </p:spPr>
      </p:sp>
      <p:pic>
        <p:nvPicPr>
          <p:cNvPr id="20" name="Image 2" descr="/home/claude/icon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4050792"/>
            <a:ext cx="640080" cy="64008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463040" y="4123944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2" name="Text 17"/>
          <p:cNvSpPr/>
          <p:nvPr/>
        </p:nvSpPr>
        <p:spPr>
          <a:xfrm>
            <a:off x="1463040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2057400" y="4014216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Clothing &amp; Cash Drive the Business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2057400" y="4370832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is the top-performing product category (₹68M female, ₹46M male). Cash remains the #1 payment method at 44.69% of all transactions.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48640" y="5065776"/>
            <a:ext cx="777240" cy="77724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26" name="Image 3" descr="/home/claude/icon_tre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5129784"/>
            <a:ext cx="640080" cy="64008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1463040" y="5202936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8" name="Text 22"/>
          <p:cNvSpPr/>
          <p:nvPr/>
        </p:nvSpPr>
        <p:spPr>
          <a:xfrm>
            <a:off x="1463040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2057400" y="5093208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Focus for Growth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2057400" y="5449824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senior customers, expanding clothing lines, and promoting digital payment adoption will maximize revenue and modernize the customer experience.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0" y="1828800"/>
            <a:ext cx="1216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4143983" y="3337560"/>
            <a:ext cx="3784059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DD784C-F936-B3D5-DFCA-CC5DD85BC02F}"/>
              </a:ext>
            </a:extLst>
          </p:cNvPr>
          <p:cNvSpPr txBox="1"/>
          <p:nvPr/>
        </p:nvSpPr>
        <p:spPr>
          <a:xfrm>
            <a:off x="7402665" y="5407094"/>
            <a:ext cx="43692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Name : Keerthaveni R</a:t>
            </a:r>
          </a:p>
          <a:p>
            <a:r>
              <a:rPr lang="en-US" dirty="0">
                <a:solidFill>
                  <a:schemeClr val="bg1"/>
                </a:solidFill>
              </a:rPr>
              <a:t>Project Team ID : PTID-CDA-JUN-26-11195</a:t>
            </a:r>
          </a:p>
          <a:p>
            <a:r>
              <a:rPr lang="en-US" dirty="0">
                <a:solidFill>
                  <a:schemeClr val="bg1"/>
                </a:solidFill>
              </a:rPr>
              <a:t>Project ID : </a:t>
            </a:r>
            <a:r>
              <a:rPr lang="en-IN" dirty="0">
                <a:solidFill>
                  <a:schemeClr val="bg1"/>
                </a:solidFill>
              </a:rPr>
              <a:t> PRDA-05: Customer Data Analysis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915</Words>
  <Application>Microsoft Office PowerPoint</Application>
  <PresentationFormat>Widescreen</PresentationFormat>
  <Paragraphs>227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 Using Power BI</dc:title>
  <dc:subject>PptxGenJS Presentation</dc:subject>
  <dc:creator>PptxGenJS</dc:creator>
  <cp:lastModifiedBy>Keerthaveni R</cp:lastModifiedBy>
  <cp:revision>10</cp:revision>
  <dcterms:created xsi:type="dcterms:W3CDTF">2026-06-27T08:16:25Z</dcterms:created>
  <dcterms:modified xsi:type="dcterms:W3CDTF">2026-07-19T22:45:50Z</dcterms:modified>
</cp:coreProperties>
</file>